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B3EC0-9595-42B2-A7C6-A248A3EBEA4D}" v="5" dt="2026-03-12T01:27:4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ley Moreira" userId="171184790accf907" providerId="LiveId" clId="{E45850A7-E30D-451B-A34D-8FE64E2E652E}"/>
    <pc:docChg chg="undo custSel modSld">
      <pc:chgData name="Wesley Moreira" userId="171184790accf907" providerId="LiveId" clId="{E45850A7-E30D-451B-A34D-8FE64E2E652E}" dt="2026-03-12T01:28:39.813" v="485" actId="20577"/>
      <pc:docMkLst>
        <pc:docMk/>
      </pc:docMkLst>
      <pc:sldChg chg="modSp mod">
        <pc:chgData name="Wesley Moreira" userId="171184790accf907" providerId="LiveId" clId="{E45850A7-E30D-451B-A34D-8FE64E2E652E}" dt="2026-03-12T00:59:54.669" v="61" actId="6549"/>
        <pc:sldMkLst>
          <pc:docMk/>
          <pc:sldMk cId="0" sldId="257"/>
        </pc:sldMkLst>
        <pc:spChg chg="mod">
          <ac:chgData name="Wesley Moreira" userId="171184790accf907" providerId="LiveId" clId="{E45850A7-E30D-451B-A34D-8FE64E2E652E}" dt="2026-03-12T00:57:37.654" v="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0:59:30.414" v="19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0:59:54.669" v="61" actId="6549"/>
          <ac:spMkLst>
            <pc:docMk/>
            <pc:sldMk cId="0" sldId="257"/>
            <ac:spMk id="28" creationId="{00000000-0000-0000-0000-000000000000}"/>
          </ac:spMkLst>
        </pc:spChg>
      </pc:sldChg>
      <pc:sldChg chg="delSp modSp mod">
        <pc:chgData name="Wesley Moreira" userId="171184790accf907" providerId="LiveId" clId="{E45850A7-E30D-451B-A34D-8FE64E2E652E}" dt="2026-03-12T01:03:10.457" v="96" actId="207"/>
        <pc:sldMkLst>
          <pc:docMk/>
          <pc:sldMk cId="0" sldId="258"/>
        </pc:sldMkLst>
        <pc:spChg chg="del">
          <ac:chgData name="Wesley Moreira" userId="171184790accf907" providerId="LiveId" clId="{E45850A7-E30D-451B-A34D-8FE64E2E652E}" dt="2026-03-12T01:01:04.725" v="63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3:10.457" v="96" actId="20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2:27.309" v="95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2:01.329" v="70" actId="20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1:54.193" v="69" actId="113"/>
          <ac:spMkLst>
            <pc:docMk/>
            <pc:sldMk cId="0" sldId="258"/>
            <ac:spMk id="3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1:47.538" v="68" actId="113"/>
          <ac:spMkLst>
            <pc:docMk/>
            <pc:sldMk cId="0" sldId="258"/>
            <ac:spMk id="3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1:40.406" v="67" actId="113"/>
          <ac:spMkLst>
            <pc:docMk/>
            <pc:sldMk cId="0" sldId="258"/>
            <ac:spMk id="34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01:01.653" v="62" actId="478"/>
          <ac:picMkLst>
            <pc:docMk/>
            <pc:sldMk cId="0" sldId="258"/>
            <ac:picMk id="10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04:02.638" v="123" actId="113"/>
        <pc:sldMkLst>
          <pc:docMk/>
          <pc:sldMk cId="0" sldId="259"/>
        </pc:sldMkLst>
        <pc:spChg chg="mod">
          <ac:chgData name="Wesley Moreira" userId="171184790accf907" providerId="LiveId" clId="{E45850A7-E30D-451B-A34D-8FE64E2E652E}" dt="2026-03-12T01:03:45.610" v="119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4:02.638" v="123" actId="113"/>
          <ac:spMkLst>
            <pc:docMk/>
            <pc:sldMk cId="0" sldId="259"/>
            <ac:spMk id="41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03:49.007" v="120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04:19.690" v="142" actId="20577"/>
        <pc:sldMkLst>
          <pc:docMk/>
          <pc:sldMk cId="0" sldId="260"/>
        </pc:sldMkLst>
        <pc:spChg chg="mod">
          <ac:chgData name="Wesley Moreira" userId="171184790accf907" providerId="LiveId" clId="{E45850A7-E30D-451B-A34D-8FE64E2E652E}" dt="2026-03-12T01:04:19.690" v="142" actId="20577"/>
          <ac:spMkLst>
            <pc:docMk/>
            <pc:sldMk cId="0" sldId="260"/>
            <ac:spMk id="8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04:12.204" v="124" actId="478"/>
          <ac:picMkLst>
            <pc:docMk/>
            <pc:sldMk cId="0" sldId="260"/>
            <ac:picMk id="10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11:42.868" v="236" actId="1076"/>
        <pc:sldMkLst>
          <pc:docMk/>
          <pc:sldMk cId="0" sldId="261"/>
        </pc:sldMkLst>
        <pc:spChg chg="del">
          <ac:chgData name="Wesley Moreira" userId="171184790accf907" providerId="LiveId" clId="{E45850A7-E30D-451B-A34D-8FE64E2E652E}" dt="2026-03-12T01:04:57.825" v="144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6:00.353" v="153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0:22.191" v="229" actId="20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0:46.538" v="232" actId="20577"/>
          <ac:spMkLst>
            <pc:docMk/>
            <pc:sldMk cId="0" sldId="261"/>
            <ac:spMk id="3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6:41.298" v="157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5:30.225" v="148" actId="107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5:35.481" v="149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9:39.652" v="224" actId="107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1:42.868" v="236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0:39.190" v="231" actId="20577"/>
          <ac:spMkLst>
            <pc:docMk/>
            <pc:sldMk cId="0" sldId="261"/>
            <ac:spMk id="3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6:50.631" v="159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5:09.118" v="145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5:15.711" v="146" actId="107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8:42.119" v="191" actId="207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1:32.661" v="235" actId="107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7:37.860" v="163" actId="20577"/>
          <ac:spMkLst>
            <pc:docMk/>
            <pc:sldMk cId="0" sldId="261"/>
            <ac:spMk id="4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06:59.025" v="161" actId="1076"/>
          <ac:spMkLst>
            <pc:docMk/>
            <pc:sldMk cId="0" sldId="261"/>
            <ac:spMk id="4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1:17.422" v="234" actId="207"/>
          <ac:spMkLst>
            <pc:docMk/>
            <pc:sldMk cId="0" sldId="261"/>
            <ac:spMk id="4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1:05.271" v="233" actId="207"/>
          <ac:spMkLst>
            <pc:docMk/>
            <pc:sldMk cId="0" sldId="261"/>
            <ac:spMk id="46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04:45.828" v="143" actId="478"/>
          <ac:picMkLst>
            <pc:docMk/>
            <pc:sldMk cId="0" sldId="261"/>
            <ac:picMk id="10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05:55.863" v="152" actId="1076"/>
          <ac:picMkLst>
            <pc:docMk/>
            <pc:sldMk cId="0" sldId="261"/>
            <ac:picMk id="27" creationId="{00000000-0000-0000-0000-000000000000}"/>
          </ac:picMkLst>
        </pc:picChg>
      </pc:sldChg>
      <pc:sldChg chg="delSp mod">
        <pc:chgData name="Wesley Moreira" userId="171184790accf907" providerId="LiveId" clId="{E45850A7-E30D-451B-A34D-8FE64E2E652E}" dt="2026-03-12T01:12:09.354" v="238" actId="478"/>
        <pc:sldMkLst>
          <pc:docMk/>
          <pc:sldMk cId="0" sldId="262"/>
        </pc:sldMkLst>
        <pc:spChg chg="del">
          <ac:chgData name="Wesley Moreira" userId="171184790accf907" providerId="LiveId" clId="{E45850A7-E30D-451B-A34D-8FE64E2E652E}" dt="2026-03-12T01:12:06.629" v="237" actId="478"/>
          <ac:spMkLst>
            <pc:docMk/>
            <pc:sldMk cId="0" sldId="262"/>
            <ac:spMk id="9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12:09.354" v="238" actId="478"/>
          <ac:picMkLst>
            <pc:docMk/>
            <pc:sldMk cId="0" sldId="262"/>
            <ac:picMk id="11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17:15.821" v="300" actId="1076"/>
        <pc:sldMkLst>
          <pc:docMk/>
          <pc:sldMk cId="0" sldId="263"/>
        </pc:sldMkLst>
        <pc:spChg chg="del">
          <ac:chgData name="Wesley Moreira" userId="171184790accf907" providerId="LiveId" clId="{E45850A7-E30D-451B-A34D-8FE64E2E652E}" dt="2026-03-12T01:12:22.238" v="239" actId="478"/>
          <ac:spMkLst>
            <pc:docMk/>
            <pc:sldMk cId="0" sldId="263"/>
            <ac:spMk id="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3:09.872" v="261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3:03.525" v="260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3:48.728" v="265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3:59.093" v="267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4:04.415" v="268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4:16.537" v="270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4:25.881" v="272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4:36.750" v="273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4:54.538" v="275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06.452" v="277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13.391" v="278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20.561" v="280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28.100" v="282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31.384" v="283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5:49.595" v="285" actId="1076"/>
          <ac:spMkLst>
            <pc:docMk/>
            <pc:sldMk cId="0" sldId="263"/>
            <ac:spMk id="3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07.420" v="287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14.432" v="288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30.521" v="291" actId="1076"/>
          <ac:spMkLst>
            <pc:docMk/>
            <pc:sldMk cId="0" sldId="263"/>
            <ac:spMk id="4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34.768" v="292" actId="1076"/>
          <ac:spMkLst>
            <pc:docMk/>
            <pc:sldMk cId="0" sldId="263"/>
            <ac:spMk id="4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47.563" v="295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6:52.786" v="296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7:09.763" v="299" actId="1076"/>
          <ac:spMkLst>
            <pc:docMk/>
            <pc:sldMk cId="0" sldId="263"/>
            <ac:spMk id="52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12:25.520" v="240" actId="478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3:31.161" v="263" actId="1076"/>
          <ac:picMkLst>
            <pc:docMk/>
            <pc:sldMk cId="0" sldId="263"/>
            <ac:picMk id="12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3:42.174" v="264" actId="1076"/>
          <ac:picMkLst>
            <pc:docMk/>
            <pc:sldMk cId="0" sldId="263"/>
            <ac:picMk id="14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3:53.505" v="266" actId="1076"/>
          <ac:picMkLst>
            <pc:docMk/>
            <pc:sldMk cId="0" sldId="263"/>
            <ac:picMk id="1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4:09.801" v="269" actId="1076"/>
          <ac:picMkLst>
            <pc:docMk/>
            <pc:sldMk cId="0" sldId="263"/>
            <ac:picMk id="19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4:21.033" v="271" actId="1076"/>
          <ac:picMkLst>
            <pc:docMk/>
            <pc:sldMk cId="0" sldId="263"/>
            <ac:picMk id="21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4:50.333" v="274" actId="1076"/>
          <ac:picMkLst>
            <pc:docMk/>
            <pc:sldMk cId="0" sldId="263"/>
            <ac:picMk id="24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5:02.202" v="276" actId="1076"/>
          <ac:picMkLst>
            <pc:docMk/>
            <pc:sldMk cId="0" sldId="263"/>
            <ac:picMk id="2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5:17.028" v="279" actId="1076"/>
          <ac:picMkLst>
            <pc:docMk/>
            <pc:sldMk cId="0" sldId="263"/>
            <ac:picMk id="29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5:23.921" v="281" actId="1076"/>
          <ac:picMkLst>
            <pc:docMk/>
            <pc:sldMk cId="0" sldId="263"/>
            <ac:picMk id="31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5:41.009" v="284" actId="1076"/>
          <ac:picMkLst>
            <pc:docMk/>
            <pc:sldMk cId="0" sldId="263"/>
            <ac:picMk id="34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5:59.755" v="286" actId="1076"/>
          <ac:picMkLst>
            <pc:docMk/>
            <pc:sldMk cId="0" sldId="263"/>
            <ac:picMk id="3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6:24.729" v="290" actId="1076"/>
          <ac:picMkLst>
            <pc:docMk/>
            <pc:sldMk cId="0" sldId="263"/>
            <ac:picMk id="41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6:20.538" v="289" actId="1076"/>
          <ac:picMkLst>
            <pc:docMk/>
            <pc:sldMk cId="0" sldId="263"/>
            <ac:picMk id="42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6:43.484" v="294" actId="1076"/>
          <ac:picMkLst>
            <pc:docMk/>
            <pc:sldMk cId="0" sldId="263"/>
            <ac:picMk id="4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6:40.618" v="293" actId="1076"/>
          <ac:picMkLst>
            <pc:docMk/>
            <pc:sldMk cId="0" sldId="263"/>
            <ac:picMk id="47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7:04.833" v="298" actId="1076"/>
          <ac:picMkLst>
            <pc:docMk/>
            <pc:sldMk cId="0" sldId="263"/>
            <ac:picMk id="50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6:57.058" v="297" actId="1076"/>
          <ac:picMkLst>
            <pc:docMk/>
            <pc:sldMk cId="0" sldId="263"/>
            <ac:picMk id="51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7:15.821" v="300" actId="1076"/>
          <ac:picMkLst>
            <pc:docMk/>
            <pc:sldMk cId="0" sldId="263"/>
            <ac:picMk id="53" creationId="{00000000-0000-0000-0000-000000000000}"/>
          </ac:picMkLst>
        </pc:picChg>
      </pc:sldChg>
      <pc:sldChg chg="addSp delSp modSp mod">
        <pc:chgData name="Wesley Moreira" userId="171184790accf907" providerId="LiveId" clId="{E45850A7-E30D-451B-A34D-8FE64E2E652E}" dt="2026-03-12T01:28:39.813" v="485" actId="20577"/>
        <pc:sldMkLst>
          <pc:docMk/>
          <pc:sldMk cId="0" sldId="264"/>
        </pc:sldMkLst>
        <pc:spChg chg="del">
          <ac:chgData name="Wesley Moreira" userId="171184790accf907" providerId="LiveId" clId="{E45850A7-E30D-451B-A34D-8FE64E2E652E}" dt="2026-03-12T01:17:26.594" v="301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9:33.847" v="323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6:55.983" v="467" actId="6549"/>
          <ac:spMkLst>
            <pc:docMk/>
            <pc:sldMk cId="0" sldId="264"/>
            <ac:spMk id="1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5:13.168" v="443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5:20.673" v="447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0:30.560" v="33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0:49.613" v="334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0:54.488" v="335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1:01.708" v="337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5:53.454" v="455" actId="20577"/>
          <ac:spMkLst>
            <pc:docMk/>
            <pc:sldMk cId="0" sldId="264"/>
            <ac:spMk id="27" creationId="{00000000-0000-0000-0000-000000000000}"/>
          </ac:spMkLst>
        </pc:spChg>
        <pc:spChg chg="add del mod">
          <ac:chgData name="Wesley Moreira" userId="171184790accf907" providerId="LiveId" clId="{E45850A7-E30D-451B-A34D-8FE64E2E652E}" dt="2026-03-12T01:27:31.086" v="474" actId="478"/>
          <ac:spMkLst>
            <pc:docMk/>
            <pc:sldMk cId="0" sldId="264"/>
            <ac:spMk id="2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1:34.481" v="344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5:29.703" v="449" actId="1392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4:30.071" v="437" actId="20577"/>
          <ac:spMkLst>
            <pc:docMk/>
            <pc:sldMk cId="0" sldId="264"/>
            <ac:spMk id="36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4:34.576" v="439" actId="20577"/>
          <ac:spMkLst>
            <pc:docMk/>
            <pc:sldMk cId="0" sldId="264"/>
            <ac:spMk id="39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7:39.461" v="303" actId="1076"/>
          <ac:spMkLst>
            <pc:docMk/>
            <pc:sldMk cId="0" sldId="264"/>
            <ac:spMk id="4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7:48.840" v="305" actId="1076"/>
          <ac:spMkLst>
            <pc:docMk/>
            <pc:sldMk cId="0" sldId="264"/>
            <ac:spMk id="5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7:58.213" v="307" actId="1076"/>
          <ac:spMkLst>
            <pc:docMk/>
            <pc:sldMk cId="0" sldId="264"/>
            <ac:spMk id="5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8:36.147" v="483" actId="1076"/>
          <ac:spMkLst>
            <pc:docMk/>
            <pc:sldMk cId="0" sldId="264"/>
            <ac:spMk id="5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8:12.051" v="309" actId="1076"/>
          <ac:spMkLst>
            <pc:docMk/>
            <pc:sldMk cId="0" sldId="264"/>
            <ac:spMk id="5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8:16.323" v="310" actId="1076"/>
          <ac:spMkLst>
            <pc:docMk/>
            <pc:sldMk cId="0" sldId="264"/>
            <ac:spMk id="55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8:34.513" v="312" actId="1076"/>
          <ac:spMkLst>
            <pc:docMk/>
            <pc:sldMk cId="0" sldId="264"/>
            <ac:spMk id="57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8:45.569" v="315" actId="1076"/>
          <ac:spMkLst>
            <pc:docMk/>
            <pc:sldMk cId="0" sldId="264"/>
            <ac:spMk id="60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8:39.813" v="485" actId="20577"/>
          <ac:spMkLst>
            <pc:docMk/>
            <pc:sldMk cId="0" sldId="264"/>
            <ac:spMk id="61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9:01.552" v="318" actId="1076"/>
          <ac:spMkLst>
            <pc:docMk/>
            <pc:sldMk cId="0" sldId="264"/>
            <ac:spMk id="62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9:25.203" v="321" actId="1076"/>
          <ac:spMkLst>
            <pc:docMk/>
            <pc:sldMk cId="0" sldId="264"/>
            <ac:spMk id="6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19:21.077" v="320" actId="1076"/>
          <ac:spMkLst>
            <pc:docMk/>
            <pc:sldMk cId="0" sldId="264"/>
            <ac:spMk id="66" creationId="{00000000-0000-0000-0000-000000000000}"/>
          </ac:spMkLst>
        </pc:spChg>
        <pc:picChg chg="mod">
          <ac:chgData name="Wesley Moreira" userId="171184790accf907" providerId="LiveId" clId="{E45850A7-E30D-451B-A34D-8FE64E2E652E}" dt="2026-03-12T01:18:52.393" v="316" actId="1076"/>
          <ac:picMkLst>
            <pc:docMk/>
            <pc:sldMk cId="0" sldId="264"/>
            <ac:picMk id="3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9:08.029" v="319" actId="1076"/>
          <ac:picMkLst>
            <pc:docMk/>
            <pc:sldMk cId="0" sldId="264"/>
            <ac:picMk id="5" creationId="{00000000-0000-0000-0000-000000000000}"/>
          </ac:picMkLst>
        </pc:picChg>
        <pc:picChg chg="del">
          <ac:chgData name="Wesley Moreira" userId="171184790accf907" providerId="LiveId" clId="{E45850A7-E30D-451B-A34D-8FE64E2E652E}" dt="2026-03-12T01:17:29.320" v="302" actId="478"/>
          <ac:picMkLst>
            <pc:docMk/>
            <pc:sldMk cId="0" sldId="264"/>
            <ac:picMk id="10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9:49.634" v="324" actId="1076"/>
          <ac:picMkLst>
            <pc:docMk/>
            <pc:sldMk cId="0" sldId="264"/>
            <ac:picMk id="13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08.340" v="327" actId="1076"/>
          <ac:picMkLst>
            <pc:docMk/>
            <pc:sldMk cId="0" sldId="264"/>
            <ac:picMk id="1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02.034" v="326" actId="1076"/>
          <ac:picMkLst>
            <pc:docMk/>
            <pc:sldMk cId="0" sldId="264"/>
            <ac:picMk id="17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26.467" v="330" actId="1076"/>
          <ac:picMkLst>
            <pc:docMk/>
            <pc:sldMk cId="0" sldId="264"/>
            <ac:picMk id="19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36.043" v="332" actId="1076"/>
          <ac:picMkLst>
            <pc:docMk/>
            <pc:sldMk cId="0" sldId="264"/>
            <ac:picMk id="22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42.444" v="333" actId="1076"/>
          <ac:picMkLst>
            <pc:docMk/>
            <pc:sldMk cId="0" sldId="264"/>
            <ac:picMk id="23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0:58.689" v="336" actId="1076"/>
          <ac:picMkLst>
            <pc:docMk/>
            <pc:sldMk cId="0" sldId="264"/>
            <ac:picMk id="25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1:26.217" v="342" actId="1076"/>
          <ac:picMkLst>
            <pc:docMk/>
            <pc:sldMk cId="0" sldId="264"/>
            <ac:picMk id="28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7:42.895" v="304" actId="1076"/>
          <ac:picMkLst>
            <pc:docMk/>
            <pc:sldMk cId="0" sldId="264"/>
            <ac:picMk id="47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7:53.044" v="306" actId="1076"/>
          <ac:picMkLst>
            <pc:docMk/>
            <pc:sldMk cId="0" sldId="264"/>
            <ac:picMk id="49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8:21.779" v="311" actId="1076"/>
          <ac:picMkLst>
            <pc:docMk/>
            <pc:sldMk cId="0" sldId="264"/>
            <ac:picMk id="56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8:38.555" v="313" actId="1076"/>
          <ac:picMkLst>
            <pc:docMk/>
            <pc:sldMk cId="0" sldId="264"/>
            <ac:picMk id="58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8:41.886" v="314" actId="1076"/>
          <ac:picMkLst>
            <pc:docMk/>
            <pc:sldMk cId="0" sldId="264"/>
            <ac:picMk id="59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19:29.280" v="322" actId="1076"/>
          <ac:picMkLst>
            <pc:docMk/>
            <pc:sldMk cId="0" sldId="264"/>
            <ac:picMk id="63" creationId="{00000000-0000-0000-0000-000000000000}"/>
          </ac:picMkLst>
        </pc:picChg>
        <pc:picChg chg="add mod">
          <ac:chgData name="Wesley Moreira" userId="171184790accf907" providerId="LiveId" clId="{E45850A7-E30D-451B-A34D-8FE64E2E652E}" dt="2026-03-12T01:27:41.995" v="475" actId="1076"/>
          <ac:picMkLst>
            <pc:docMk/>
            <pc:sldMk cId="0" sldId="264"/>
            <ac:picMk id="67" creationId="{50923766-17D6-4A8B-91E1-5EE642A40A12}"/>
          </ac:picMkLst>
        </pc:picChg>
        <pc:picChg chg="add mod">
          <ac:chgData name="Wesley Moreira" userId="171184790accf907" providerId="LiveId" clId="{E45850A7-E30D-451B-A34D-8FE64E2E652E}" dt="2026-03-12T01:27:58.990" v="478" actId="1076"/>
          <ac:picMkLst>
            <pc:docMk/>
            <pc:sldMk cId="0" sldId="264"/>
            <ac:picMk id="68" creationId="{FDAE84FE-021A-05E2-E301-B651FCB4A13B}"/>
          </ac:picMkLst>
        </pc:picChg>
      </pc:sldChg>
      <pc:sldChg chg="delSp modSp mod">
        <pc:chgData name="Wesley Moreira" userId="171184790accf907" providerId="LiveId" clId="{E45850A7-E30D-451B-A34D-8FE64E2E652E}" dt="2026-03-12T01:22:39.857" v="378" actId="478"/>
        <pc:sldMkLst>
          <pc:docMk/>
          <pc:sldMk cId="0" sldId="265"/>
        </pc:sldMkLst>
        <pc:spChg chg="mod">
          <ac:chgData name="Wesley Moreira" userId="171184790accf907" providerId="LiveId" clId="{E45850A7-E30D-451B-A34D-8FE64E2E652E}" dt="2026-03-12T01:21:47.582" v="368" actId="20577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Wesley Moreira" userId="171184790accf907" providerId="LiveId" clId="{E45850A7-E30D-451B-A34D-8FE64E2E652E}" dt="2026-03-12T01:22:35.595" v="376" actId="478"/>
          <ac:spMkLst>
            <pc:docMk/>
            <pc:sldMk cId="0" sldId="265"/>
            <ac:spMk id="37" creationId="{00000000-0000-0000-0000-000000000000}"/>
          </ac:spMkLst>
        </pc:spChg>
        <pc:spChg chg="del mod">
          <ac:chgData name="Wesley Moreira" userId="171184790accf907" providerId="LiveId" clId="{E45850A7-E30D-451B-A34D-8FE64E2E652E}" dt="2026-03-12T01:22:37.518" v="377" actId="478"/>
          <ac:spMkLst>
            <pc:docMk/>
            <pc:sldMk cId="0" sldId="265"/>
            <ac:spMk id="38" creationId="{00000000-0000-0000-0000-000000000000}"/>
          </ac:spMkLst>
        </pc:spChg>
        <pc:picChg chg="del mod">
          <ac:chgData name="Wesley Moreira" userId="171184790accf907" providerId="LiveId" clId="{E45850A7-E30D-451B-A34D-8FE64E2E652E}" dt="2026-03-12T01:22:39.857" v="378" actId="478"/>
          <ac:picMkLst>
            <pc:docMk/>
            <pc:sldMk cId="0" sldId="265"/>
            <ac:picMk id="5" creationId="{00000000-0000-0000-0000-000000000000}"/>
          </ac:picMkLst>
        </pc:picChg>
        <pc:picChg chg="del">
          <ac:chgData name="Wesley Moreira" userId="171184790accf907" providerId="LiveId" clId="{E45850A7-E30D-451B-A34D-8FE64E2E652E}" dt="2026-03-12T01:21:50.276" v="369" actId="478"/>
          <ac:picMkLst>
            <pc:docMk/>
            <pc:sldMk cId="0" sldId="265"/>
            <ac:picMk id="10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2:16.208" v="375" actId="1076"/>
          <ac:picMkLst>
            <pc:docMk/>
            <pc:sldMk cId="0" sldId="265"/>
            <ac:picMk id="14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2:12.856" v="374" actId="1076"/>
          <ac:picMkLst>
            <pc:docMk/>
            <pc:sldMk cId="0" sldId="265"/>
            <ac:picMk id="49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23:18.156" v="384" actId="207"/>
        <pc:sldMkLst>
          <pc:docMk/>
          <pc:sldMk cId="0" sldId="266"/>
        </pc:sldMkLst>
        <pc:spChg chg="del">
          <ac:chgData name="Wesley Moreira" userId="171184790accf907" providerId="LiveId" clId="{E45850A7-E30D-451B-A34D-8FE64E2E652E}" dt="2026-03-12T01:22:53.450" v="379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3:10.917" v="383" actId="6549"/>
          <ac:spMkLst>
            <pc:docMk/>
            <pc:sldMk cId="0" sldId="266"/>
            <ac:spMk id="53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3:18.156" v="384" actId="207"/>
          <ac:spMkLst>
            <pc:docMk/>
            <pc:sldMk cId="0" sldId="266"/>
            <ac:spMk id="54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22:56.029" v="380" actId="478"/>
          <ac:picMkLst>
            <pc:docMk/>
            <pc:sldMk cId="0" sldId="266"/>
            <ac:picMk id="10" creationId="{00000000-0000-0000-0000-000000000000}"/>
          </ac:picMkLst>
        </pc:picChg>
      </pc:sldChg>
      <pc:sldChg chg="delSp modSp mod">
        <pc:chgData name="Wesley Moreira" userId="171184790accf907" providerId="LiveId" clId="{E45850A7-E30D-451B-A34D-8FE64E2E652E}" dt="2026-03-12T01:24:11.240" v="435" actId="6549"/>
        <pc:sldMkLst>
          <pc:docMk/>
          <pc:sldMk cId="0" sldId="267"/>
        </pc:sldMkLst>
        <pc:spChg chg="mod">
          <ac:chgData name="Wesley Moreira" userId="171184790accf907" providerId="LiveId" clId="{E45850A7-E30D-451B-A34D-8FE64E2E652E}" dt="2026-03-12T01:23:55.669" v="419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Wesley Moreira" userId="171184790accf907" providerId="LiveId" clId="{E45850A7-E30D-451B-A34D-8FE64E2E652E}" dt="2026-03-12T01:24:11.240" v="435" actId="6549"/>
          <ac:spMkLst>
            <pc:docMk/>
            <pc:sldMk cId="0" sldId="267"/>
            <ac:spMk id="16" creationId="{00000000-0000-0000-0000-000000000000}"/>
          </ac:spMkLst>
        </pc:spChg>
        <pc:picChg chg="del">
          <ac:chgData name="Wesley Moreira" userId="171184790accf907" providerId="LiveId" clId="{E45850A7-E30D-451B-A34D-8FE64E2E652E}" dt="2026-03-12T01:23:28.444" v="385" actId="478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Wesley Moreira" userId="171184790accf907" providerId="LiveId" clId="{E45850A7-E30D-451B-A34D-8FE64E2E652E}" dt="2026-03-12T01:23:51.885" v="418" actId="1076"/>
          <ac:picMkLst>
            <pc:docMk/>
            <pc:sldMk cId="0" sldId="267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877FC-730D-8E4F-8049-EC14716E645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6C0E8-4B53-134B-ABA6-32C527121B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30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2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0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12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20.png"/><Relationship Id="rId10" Type="http://schemas.openxmlformats.org/officeDocument/2006/relationships/image" Target="../media/image48.png"/><Relationship Id="rId4" Type="http://schemas.openxmlformats.org/officeDocument/2006/relationships/image" Target="../media/image1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53.png"/><Relationship Id="rId5" Type="http://schemas.openxmlformats.org/officeDocument/2006/relationships/image" Target="../media/image12.png"/><Relationship Id="rId10" Type="http://schemas.openxmlformats.org/officeDocument/2006/relationships/image" Target="../media/image52.png"/><Relationship Id="rId4" Type="http://schemas.openxmlformats.org/officeDocument/2006/relationships/image" Target="../media/image19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20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1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20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12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1.png"/><Relationship Id="rId21" Type="http://schemas.openxmlformats.org/officeDocument/2006/relationships/image" Target="../media/image95.png"/><Relationship Id="rId7" Type="http://schemas.openxmlformats.org/officeDocument/2006/relationships/image" Target="../media/image82.png"/><Relationship Id="rId12" Type="http://schemas.openxmlformats.org/officeDocument/2006/relationships/image" Target="../media/image5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89.png"/><Relationship Id="rId10" Type="http://schemas.openxmlformats.org/officeDocument/2006/relationships/image" Target="../media/image85.png"/><Relationship Id="rId19" Type="http://schemas.openxmlformats.org/officeDocument/2006/relationships/image" Target="../media/image93.png"/><Relationship Id="rId4" Type="http://schemas.openxmlformats.org/officeDocument/2006/relationships/image" Target="../media/image12.png"/><Relationship Id="rId9" Type="http://schemas.openxmlformats.org/officeDocument/2006/relationships/image" Target="../media/image84.png"/><Relationship Id="rId1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12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413" r="-413"/>
          <a:stretch/>
        </p:blipFill>
        <p:spPr>
          <a:xfrm>
            <a:off x="0" y="2819095"/>
            <a:ext cx="57607" cy="12188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375" b="-375"/>
          <a:stretch/>
        </p:blipFill>
        <p:spPr>
          <a:xfrm>
            <a:off x="5790895" y="7262165"/>
            <a:ext cx="609905" cy="57607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2898648" y="7700162"/>
            <a:ext cx="63971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histórias reais começam.</a:t>
            </a:r>
            <a:endParaRPr lang="en-US" sz="2700" dirty="0"/>
          </a:p>
        </p:txBody>
      </p:sp>
      <p:sp>
        <p:nvSpPr>
          <p:cNvPr id="8" name="Text 2"/>
          <p:cNvSpPr txBox="1"/>
          <p:nvPr/>
        </p:nvSpPr>
        <p:spPr>
          <a:xfrm>
            <a:off x="4810658" y="8310067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Pitch para Investidores | 2026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-57607" y="6400800"/>
            <a:ext cx="1230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9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São Paulo • Brasil</a:t>
            </a:r>
            <a:endParaRPr lang="en-US" sz="9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3B50B4E-173E-93A6-4C5B-BB3B6B094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075" y="2295367"/>
            <a:ext cx="5191850" cy="2267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17170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09905" y="457200"/>
            <a:ext cx="6467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724205"/>
            <a:ext cx="6525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mundo ficou conectado.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pessoas, não.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609905" y="2718511"/>
            <a:ext cx="3457346" cy="2295144"/>
          </a:xfrm>
          <a:prstGeom prst="roundRect">
            <a:avLst>
              <a:gd name="adj" fmla="val 396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609905" y="2718511"/>
            <a:ext cx="38405" cy="2295144"/>
          </a:xfrm>
          <a:prstGeom prst="roundRect">
            <a:avLst>
              <a:gd name="adj" fmla="val 237106"/>
            </a:avLst>
          </a:prstGeom>
          <a:solidFill>
            <a:srgbClr val="E8000E"/>
          </a:solidFill>
          <a:ln w="12700">
            <a:solidFill>
              <a:srgbClr val="E80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7" r="-27"/>
          <a:stretch/>
        </p:blipFill>
        <p:spPr>
          <a:xfrm>
            <a:off x="3482950" y="2870302"/>
            <a:ext cx="428854" cy="571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Shape 6"/>
          <p:cNvSpPr/>
          <p:nvPr/>
        </p:nvSpPr>
        <p:spPr>
          <a:xfrm>
            <a:off x="4369003" y="2718511"/>
            <a:ext cx="3457346" cy="2295144"/>
          </a:xfrm>
          <a:prstGeom prst="roundRect">
            <a:avLst>
              <a:gd name="adj" fmla="val 396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4369003" y="2718511"/>
            <a:ext cx="38405" cy="2295144"/>
          </a:xfrm>
          <a:prstGeom prst="roundRect">
            <a:avLst>
              <a:gd name="adj" fmla="val 237106"/>
            </a:avLst>
          </a:prstGeom>
          <a:solidFill>
            <a:srgbClr val="E8000E"/>
          </a:solidFill>
          <a:ln w="12700">
            <a:solidFill>
              <a:srgbClr val="E80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t="-16" b="-16"/>
          <a:stretch/>
        </p:blipFill>
        <p:spPr>
          <a:xfrm>
            <a:off x="6956755" y="2870302"/>
            <a:ext cx="714146" cy="5715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128102" y="2718511"/>
            <a:ext cx="3457346" cy="2295144"/>
          </a:xfrm>
          <a:prstGeom prst="roundRect">
            <a:avLst>
              <a:gd name="adj" fmla="val 396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9"/>
          <p:cNvSpPr/>
          <p:nvPr/>
        </p:nvSpPr>
        <p:spPr>
          <a:xfrm>
            <a:off x="8128102" y="2718511"/>
            <a:ext cx="38405" cy="2295144"/>
          </a:xfrm>
          <a:prstGeom prst="roundRect">
            <a:avLst>
              <a:gd name="adj" fmla="val 237106"/>
            </a:avLst>
          </a:prstGeom>
          <a:solidFill>
            <a:srgbClr val="E8000E"/>
          </a:solidFill>
          <a:ln w="12700">
            <a:solidFill>
              <a:srgbClr val="E80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16" b="-16"/>
          <a:stretch/>
        </p:blipFill>
        <p:spPr>
          <a:xfrm>
            <a:off x="10715854" y="2870302"/>
            <a:ext cx="714146" cy="5715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27" b="-27"/>
          <a:stretch/>
        </p:blipFill>
        <p:spPr>
          <a:xfrm>
            <a:off x="609905" y="5463540"/>
            <a:ext cx="10972800" cy="85770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71754" y="5663794"/>
            <a:ext cx="400507" cy="457200"/>
          </a:xfrm>
          <a:prstGeom prst="roundRect">
            <a:avLst>
              <a:gd name="adj" fmla="val 228311"/>
            </a:avLst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054" y="5789981"/>
            <a:ext cx="171907" cy="17190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399946" y="5625389"/>
            <a:ext cx="10096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dor real:</a:t>
            </a:r>
            <a:r>
              <a:rPr lang="en-US" sz="13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Conexões superficiais, julgamento excessivo por fotos, </a:t>
            </a:r>
            <a:r>
              <a:rPr lang="en-US" sz="130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ghosting</a:t>
            </a:r>
            <a:r>
              <a:rPr lang="en-US" sz="13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frequente e falta de segurança nos encontros. </a:t>
            </a:r>
            <a:endParaRPr lang="en-US" sz="1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rcRect l="-188" r="-188"/>
          <a:stretch/>
        </p:blipFill>
        <p:spPr>
          <a:xfrm>
            <a:off x="0" y="6782105"/>
            <a:ext cx="1218895" cy="7589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952805" y="3023006"/>
            <a:ext cx="30010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</a:t>
            </a:r>
            <a:endParaRPr lang="en-US" sz="4500" dirty="0"/>
          </a:p>
        </p:txBody>
      </p:sp>
      <p:sp>
        <p:nvSpPr>
          <p:cNvPr id="24" name="Text 13"/>
          <p:cNvSpPr txBox="1"/>
          <p:nvPr/>
        </p:nvSpPr>
        <p:spPr>
          <a:xfrm>
            <a:off x="952805" y="3670402"/>
            <a:ext cx="29224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Fadiga Digital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952805" y="4051706"/>
            <a:ext cx="28867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Usuários relatam exaustão emocional e frustração com a superficialidade dos aplicativos de namoro atuais.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4711903" y="3023006"/>
            <a:ext cx="30010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 MM</a:t>
            </a:r>
            <a:endParaRPr lang="en-US" sz="4500" dirty="0"/>
          </a:p>
        </p:txBody>
      </p:sp>
      <p:sp>
        <p:nvSpPr>
          <p:cNvPr id="27" name="Text 16"/>
          <p:cNvSpPr txBox="1"/>
          <p:nvPr/>
        </p:nvSpPr>
        <p:spPr>
          <a:xfrm>
            <a:off x="4711903" y="3670402"/>
            <a:ext cx="29224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Usuários Insatisfeitos</a:t>
            </a:r>
            <a:endParaRPr lang="en-US" sz="1500" dirty="0"/>
          </a:p>
        </p:txBody>
      </p:sp>
      <p:sp>
        <p:nvSpPr>
          <p:cNvPr id="28" name="Text 17"/>
          <p:cNvSpPr txBox="1"/>
          <p:nvPr/>
        </p:nvSpPr>
        <p:spPr>
          <a:xfrm>
            <a:off x="4711903" y="4051706"/>
            <a:ext cx="28867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Apesar de 4 </a:t>
            </a:r>
            <a:r>
              <a:rPr lang="en-US" sz="100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milões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0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usuários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capital </a:t>
            </a:r>
            <a:r>
              <a:rPr lang="en-US" sz="100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paulista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taxa de sucesso em encontros reais e duradouros permanece baixíssima.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8471002" y="3023006"/>
            <a:ext cx="30010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</a:t>
            </a:r>
            <a:endParaRPr lang="en-US" sz="4500" dirty="0"/>
          </a:p>
        </p:txBody>
      </p:sp>
      <p:sp>
        <p:nvSpPr>
          <p:cNvPr id="30" name="Text 19"/>
          <p:cNvSpPr txBox="1"/>
          <p:nvPr/>
        </p:nvSpPr>
        <p:spPr>
          <a:xfrm>
            <a:off x="8471002" y="3670402"/>
            <a:ext cx="29224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Solidão Urbana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8471002" y="4051706"/>
            <a:ext cx="28867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metrópoles como São Paulo, o excesso de opções paradoxalmente gera isolamento e dificuldade de conexão real.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305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7518197" y="6801307"/>
            <a:ext cx="4063594" cy="576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387614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Solução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</a:t>
            </a:r>
            <a:endParaRPr lang="en-US" sz="3600" dirty="0"/>
          </a:p>
        </p:txBody>
      </p:sp>
      <p:sp>
        <p:nvSpPr>
          <p:cNvPr id="11" name="Shape 5"/>
          <p:cNvSpPr/>
          <p:nvPr/>
        </p:nvSpPr>
        <p:spPr>
          <a:xfrm>
            <a:off x="609905" y="1762049"/>
            <a:ext cx="38405" cy="743407"/>
          </a:xfrm>
          <a:prstGeom prst="rect">
            <a:avLst/>
          </a:prstGeom>
          <a:solidFill>
            <a:srgbClr val="E8000E"/>
          </a:solidFill>
          <a:ln w="12700">
            <a:solidFill>
              <a:srgbClr val="E80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 txBox="1"/>
          <p:nvPr/>
        </p:nvSpPr>
        <p:spPr>
          <a:xfrm>
            <a:off x="876910" y="1762049"/>
            <a:ext cx="8353958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Experiências presenciais estruturadas que unem </a:t>
            </a: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</a:t>
            </a:r>
            <a:r>
              <a:rPr lang="en-US" sz="18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curadoria</a:t>
            </a:r>
            <a:r>
              <a:rPr lang="en-US" sz="18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8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surpresa</a:t>
            </a:r>
            <a:r>
              <a:rPr lang="en-US" sz="18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resgatar a conexão humana real. 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609905" y="2885846"/>
            <a:ext cx="5333695" cy="171907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47649" y="3124505"/>
            <a:ext cx="448056" cy="543154"/>
          </a:xfrm>
          <a:prstGeom prst="roundRect">
            <a:avLst>
              <a:gd name="adj" fmla="val 204082"/>
            </a:avLst>
          </a:prstGeom>
          <a:solidFill>
            <a:srgbClr val="E8000E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8"/>
          <p:cNvSpPr txBox="1"/>
          <p:nvPr/>
        </p:nvSpPr>
        <p:spPr>
          <a:xfrm>
            <a:off x="1485900" y="3124505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Centralizador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1485900" y="3467405"/>
            <a:ext cx="42958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único aplicativo gerencia inscrições, pagamentos e logística. A tecnologia serve ao encontro, não o substitui.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609905" y="4833518"/>
            <a:ext cx="5333695" cy="171907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47649" y="5072177"/>
            <a:ext cx="495605" cy="543154"/>
          </a:xfrm>
          <a:prstGeom prst="roundRect">
            <a:avLst>
              <a:gd name="adj" fmla="val 184502"/>
            </a:avLst>
          </a:prstGeom>
          <a:solidFill>
            <a:srgbClr val="E8000E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1"/>
          <p:cNvSpPr txBox="1"/>
          <p:nvPr/>
        </p:nvSpPr>
        <p:spPr>
          <a:xfrm>
            <a:off x="1533449" y="507217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Curadoria &amp; Experiência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1533449" y="5415077"/>
            <a:ext cx="4248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desenhados para qualidade da interação. Foco na memória criada, não apenas no "match" digital.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3276295"/>
            <a:ext cx="142646" cy="190195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354" y="5224882"/>
            <a:ext cx="190195" cy="19019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248095" y="2885846"/>
            <a:ext cx="5333695" cy="3666744"/>
          </a:xfrm>
          <a:prstGeom prst="roundRect">
            <a:avLst>
              <a:gd name="adj" fmla="val 15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4"/>
          <p:cNvSpPr/>
          <p:nvPr/>
        </p:nvSpPr>
        <p:spPr>
          <a:xfrm>
            <a:off x="10353751" y="1676095"/>
            <a:ext cx="2438705" cy="2438705"/>
          </a:xfrm>
          <a:prstGeom prst="ellipse">
            <a:avLst/>
          </a:prstGeom>
          <a:solidFill>
            <a:srgbClr val="E8000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5"/>
          <p:cNvSpPr/>
          <p:nvPr/>
        </p:nvSpPr>
        <p:spPr>
          <a:xfrm>
            <a:off x="6562649" y="3412541"/>
            <a:ext cx="381305" cy="381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6667805" y="3526841"/>
            <a:ext cx="171907" cy="1527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058254" y="3507638"/>
            <a:ext cx="2149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Diferencial Exclusivo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6562649" y="3945636"/>
            <a:ext cx="4819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Encontros as </a:t>
            </a:r>
            <a:r>
              <a:rPr lang="en-US" sz="2200" b="1" dirty="0" err="1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Cegas</a:t>
            </a:r>
            <a:endParaRPr lang="en-US" sz="2200" dirty="0"/>
          </a:p>
        </p:txBody>
      </p:sp>
      <p:sp>
        <p:nvSpPr>
          <p:cNvPr id="29" name="Text 18"/>
          <p:cNvSpPr txBox="1"/>
          <p:nvPr/>
        </p:nvSpPr>
        <p:spPr>
          <a:xfrm>
            <a:off x="6562649" y="4441241"/>
            <a:ext cx="47823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formato inovador onde nem a pessoa nem o restaurante são revelados antecipadamente. 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6810451" y="5226710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 julgamentos superficiais por foto</a:t>
            </a:r>
            <a:endParaRPr lang="en-US" sz="1200" b="1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6562649" y="5245913"/>
            <a:ext cx="133502" cy="15270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810451" y="5531206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 vieses cognitivos</a:t>
            </a:r>
            <a:endParaRPr lang="en-US" sz="1200" b="1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6562649" y="5550408"/>
            <a:ext cx="133502" cy="15270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810451" y="583661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Eleva a autenticidade e a surpresa</a:t>
            </a:r>
            <a:endParaRPr lang="en-US" sz="1200" b="1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6562649" y="5855818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t="-405" b="-405"/>
          <a:stretch/>
        </p:blipFill>
        <p:spPr>
          <a:xfrm>
            <a:off x="609905" y="6801307"/>
            <a:ext cx="3047695" cy="5760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3"/>
          <p:cNvSpPr txBox="1"/>
          <p:nvPr/>
        </p:nvSpPr>
        <p:spPr>
          <a:xfrm>
            <a:off x="609905" y="381305"/>
            <a:ext cx="4791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" name="Text 4"/>
          <p:cNvSpPr txBox="1"/>
          <p:nvPr/>
        </p:nvSpPr>
        <p:spPr>
          <a:xfrm>
            <a:off x="609905" y="647395"/>
            <a:ext cx="50099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Os 4 Produtos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</a:t>
            </a:r>
            <a:endParaRPr lang="en-US" sz="3600" dirty="0"/>
          </a:p>
        </p:txBody>
      </p:sp>
      <p:sp>
        <p:nvSpPr>
          <p:cNvPr id="12" name="Shape 5"/>
          <p:cNvSpPr/>
          <p:nvPr/>
        </p:nvSpPr>
        <p:spPr>
          <a:xfrm>
            <a:off x="0" y="1457554"/>
            <a:ext cx="12191695" cy="5400446"/>
          </a:xfrm>
          <a:prstGeom prst="rect">
            <a:avLst/>
          </a:prstGeom>
          <a:solidFill>
            <a:srgbClr val="F9FAF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609905" y="1762049"/>
            <a:ext cx="5372100" cy="2204618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3544" y="2076602"/>
            <a:ext cx="609905" cy="60990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1128370" y="2266798"/>
            <a:ext cx="200254" cy="22860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1762049" y="2076602"/>
            <a:ext cx="17657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 Clássico</a:t>
            </a:r>
            <a:endParaRPr lang="en-US" sz="1800" dirty="0"/>
          </a:p>
        </p:txBody>
      </p:sp>
      <p:sp>
        <p:nvSpPr>
          <p:cNvPr id="17" name="Shape 7"/>
          <p:cNvSpPr/>
          <p:nvPr/>
        </p:nvSpPr>
        <p:spPr>
          <a:xfrm>
            <a:off x="4545482" y="2076602"/>
            <a:ext cx="1123798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8"/>
          <p:cNvSpPr txBox="1"/>
          <p:nvPr/>
        </p:nvSpPr>
        <p:spPr>
          <a:xfrm>
            <a:off x="4545482" y="2076602"/>
            <a:ext cx="11814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Speed Dating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762049" y="2457907"/>
            <a:ext cx="3982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Encontros rápidos e dinâmicos de 5 minutos. Eficiência e leveza para conhecer múltiplas pessoas em uma única noite, sem pressão excessiva.</a:t>
            </a:r>
            <a:endParaRPr lang="en-US" sz="10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6210605" y="1762049"/>
            <a:ext cx="5372100" cy="2204618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24244" y="2076602"/>
            <a:ext cx="609905" cy="609905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6687007" y="2266798"/>
            <a:ext cx="286207" cy="228600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7362749" y="2076602"/>
            <a:ext cx="19129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 Sensorial</a:t>
            </a:r>
            <a:endParaRPr lang="en-US" sz="1800" dirty="0"/>
          </a:p>
        </p:txBody>
      </p:sp>
      <p:sp>
        <p:nvSpPr>
          <p:cNvPr id="24" name="Shape 11"/>
          <p:cNvSpPr/>
          <p:nvPr/>
        </p:nvSpPr>
        <p:spPr>
          <a:xfrm>
            <a:off x="10474452" y="2076602"/>
            <a:ext cx="800100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2"/>
          <p:cNvSpPr txBox="1"/>
          <p:nvPr/>
        </p:nvSpPr>
        <p:spPr>
          <a:xfrm>
            <a:off x="10474452" y="2076602"/>
            <a:ext cx="8577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Imersivo</a:t>
            </a:r>
            <a:endParaRPr lang="en-US" sz="900" dirty="0"/>
          </a:p>
        </p:txBody>
      </p:sp>
      <p:sp>
        <p:nvSpPr>
          <p:cNvPr id="26" name="Text 13"/>
          <p:cNvSpPr txBox="1"/>
          <p:nvPr/>
        </p:nvSpPr>
        <p:spPr>
          <a:xfrm>
            <a:off x="7362749" y="2457907"/>
            <a:ext cx="3982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guiada por estímulos sensoriais (som, tato, aroma) antes da visão. Uma conexão profunda que começa antes das palavras.</a:t>
            </a:r>
            <a:endParaRPr lang="en-US" sz="10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609905" y="4196182"/>
            <a:ext cx="5372100" cy="2204618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3544" y="4509821"/>
            <a:ext cx="609905" cy="609905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1100023" y="4700930"/>
            <a:ext cx="256946" cy="228600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1762049" y="4509821"/>
            <a:ext cx="19138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 Exclusivo</a:t>
            </a:r>
            <a:endParaRPr lang="en-US" sz="1800" dirty="0"/>
          </a:p>
        </p:txBody>
      </p:sp>
      <p:sp>
        <p:nvSpPr>
          <p:cNvPr id="31" name="Shape 15"/>
          <p:cNvSpPr/>
          <p:nvPr/>
        </p:nvSpPr>
        <p:spPr>
          <a:xfrm>
            <a:off x="4885639" y="4509821"/>
            <a:ext cx="790956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16"/>
          <p:cNvSpPr txBox="1"/>
          <p:nvPr/>
        </p:nvSpPr>
        <p:spPr>
          <a:xfrm>
            <a:off x="4885639" y="4509821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</a:t>
            </a:r>
            <a:endParaRPr lang="en-US" sz="900" dirty="0"/>
          </a:p>
        </p:txBody>
      </p:sp>
      <p:sp>
        <p:nvSpPr>
          <p:cNvPr id="33" name="Text 17"/>
          <p:cNvSpPr txBox="1"/>
          <p:nvPr/>
        </p:nvSpPr>
        <p:spPr>
          <a:xfrm>
            <a:off x="1762049" y="4891126"/>
            <a:ext cx="3982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Curadoria rigorosa de perfis e ambientes sofisticados. Foco em qualidade acima de quantidade para um público exigente.</a:t>
            </a:r>
            <a:endParaRPr lang="en-US" sz="1000" dirty="0"/>
          </a:p>
        </p:txBody>
      </p:sp>
      <p:sp>
        <p:nvSpPr>
          <p:cNvPr id="34" name="Shape 18"/>
          <p:cNvSpPr/>
          <p:nvPr/>
        </p:nvSpPr>
        <p:spPr>
          <a:xfrm>
            <a:off x="6210605" y="4196182"/>
            <a:ext cx="5372100" cy="2210105"/>
          </a:xfrm>
          <a:prstGeom prst="roundRect">
            <a:avLst>
              <a:gd name="adj" fmla="val 4280"/>
            </a:avLst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19"/>
          <p:cNvSpPr/>
          <p:nvPr/>
        </p:nvSpPr>
        <p:spPr>
          <a:xfrm>
            <a:off x="10886846" y="3976726"/>
            <a:ext cx="914400" cy="914400"/>
          </a:xfrm>
          <a:prstGeom prst="ellipse">
            <a:avLst/>
          </a:prstGeom>
          <a:solidFill>
            <a:srgbClr val="E8000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52844" y="4509821"/>
            <a:ext cx="609905" cy="609905"/>
          </a:xfrm>
          <a:prstGeom prst="rect">
            <a:avLst/>
          </a:prstGeom>
        </p:spPr>
      </p:pic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6972300" y="4700930"/>
            <a:ext cx="171907" cy="22860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591349" y="4509821"/>
            <a:ext cx="235915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MOV Surpresa</a:t>
            </a:r>
            <a:endParaRPr lang="en-US" sz="1800" dirty="0"/>
          </a:p>
        </p:txBody>
      </p:sp>
      <p:sp>
        <p:nvSpPr>
          <p:cNvPr id="39" name="Shape 21"/>
          <p:cNvSpPr/>
          <p:nvPr/>
        </p:nvSpPr>
        <p:spPr>
          <a:xfrm>
            <a:off x="10415016" y="4509821"/>
            <a:ext cx="857707" cy="228600"/>
          </a:xfrm>
          <a:prstGeom prst="roundRect">
            <a:avLst>
              <a:gd name="adj" fmla="val 133333"/>
            </a:avLst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22"/>
          <p:cNvSpPr txBox="1"/>
          <p:nvPr/>
        </p:nvSpPr>
        <p:spPr>
          <a:xfrm>
            <a:off x="10415016" y="4509821"/>
            <a:ext cx="9144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Inovação</a:t>
            </a:r>
            <a:endParaRPr lang="en-US" sz="900" dirty="0"/>
          </a:p>
        </p:txBody>
      </p:sp>
      <p:sp>
        <p:nvSpPr>
          <p:cNvPr id="41" name="Text 23"/>
          <p:cNvSpPr txBox="1"/>
          <p:nvPr/>
        </p:nvSpPr>
        <p:spPr>
          <a:xfrm>
            <a:off x="7591349" y="4891126"/>
            <a:ext cx="37536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"Duplo Cego": nem a pessoa nem o restaurante são revelados antes. O mistério cria antecipação e elimina o julgamento prévio.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9144000" y="6801307"/>
            <a:ext cx="30476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 txBox="1"/>
          <p:nvPr/>
        </p:nvSpPr>
        <p:spPr>
          <a:xfrm>
            <a:off x="609905" y="381305"/>
            <a:ext cx="5791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67107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Diferencial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Competitivo</a:t>
            </a:r>
            <a:endParaRPr lang="en-US" sz="3600" dirty="0"/>
          </a:p>
        </p:txBody>
      </p:sp>
      <p:sp>
        <p:nvSpPr>
          <p:cNvPr id="11" name="Shape 5"/>
          <p:cNvSpPr/>
          <p:nvPr/>
        </p:nvSpPr>
        <p:spPr>
          <a:xfrm>
            <a:off x="609905" y="2676449"/>
            <a:ext cx="3295498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 txBox="1"/>
          <p:nvPr/>
        </p:nvSpPr>
        <p:spPr>
          <a:xfrm>
            <a:off x="571500" y="1762049"/>
            <a:ext cx="3372307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de Valor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901745" y="2676449"/>
            <a:ext cx="2743200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8"/>
          <p:cNvSpPr txBox="1"/>
          <p:nvPr/>
        </p:nvSpPr>
        <p:spPr>
          <a:xfrm>
            <a:off x="3863340" y="1762049"/>
            <a:ext cx="2820010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Apps de Namoro</a:t>
            </a:r>
            <a:endParaRPr lang="en-US" sz="13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(Tinder, Bumble)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644945" y="2676449"/>
            <a:ext cx="2743200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 txBox="1"/>
          <p:nvPr/>
        </p:nvSpPr>
        <p:spPr>
          <a:xfrm>
            <a:off x="6606540" y="1762049"/>
            <a:ext cx="2820010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Speed Dating Tradicional</a:t>
            </a:r>
            <a:endParaRPr lang="en-US" sz="13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(Eventos Genéricos)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09905" y="3305556"/>
            <a:ext cx="32954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990295" y="2848356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1047902" y="2924251"/>
            <a:ext cx="190195" cy="1527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901745" y="3305556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4"/>
          <p:cNvSpPr/>
          <p:nvPr/>
        </p:nvSpPr>
        <p:spPr>
          <a:xfrm>
            <a:off x="6644945" y="3305556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5"/>
          <p:cNvSpPr/>
          <p:nvPr/>
        </p:nvSpPr>
        <p:spPr>
          <a:xfrm>
            <a:off x="609905" y="3924605"/>
            <a:ext cx="32954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990295" y="3467405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7105" y="3543300"/>
            <a:ext cx="152705" cy="1527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3901745" y="3924605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18"/>
          <p:cNvSpPr/>
          <p:nvPr/>
        </p:nvSpPr>
        <p:spPr>
          <a:xfrm>
            <a:off x="6644945" y="3924605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19"/>
          <p:cNvSpPr/>
          <p:nvPr/>
        </p:nvSpPr>
        <p:spPr>
          <a:xfrm>
            <a:off x="609905" y="4543654"/>
            <a:ext cx="32954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0"/>
          <p:cNvSpPr/>
          <p:nvPr/>
        </p:nvSpPr>
        <p:spPr>
          <a:xfrm>
            <a:off x="990295" y="4086454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76249" y="4162349"/>
            <a:ext cx="133502" cy="152705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3901745" y="4543654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2"/>
          <p:cNvSpPr/>
          <p:nvPr/>
        </p:nvSpPr>
        <p:spPr>
          <a:xfrm>
            <a:off x="6644945" y="4543654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3"/>
          <p:cNvSpPr/>
          <p:nvPr/>
        </p:nvSpPr>
        <p:spPr>
          <a:xfrm>
            <a:off x="609905" y="5162702"/>
            <a:ext cx="32954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4"/>
          <p:cNvSpPr/>
          <p:nvPr/>
        </p:nvSpPr>
        <p:spPr>
          <a:xfrm>
            <a:off x="990295" y="4705502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1047902" y="4781398"/>
            <a:ext cx="190195" cy="15270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3901745" y="5162702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26"/>
          <p:cNvSpPr/>
          <p:nvPr/>
        </p:nvSpPr>
        <p:spPr>
          <a:xfrm>
            <a:off x="6644945" y="5162702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7"/>
          <p:cNvSpPr/>
          <p:nvPr/>
        </p:nvSpPr>
        <p:spPr>
          <a:xfrm>
            <a:off x="609905" y="5781751"/>
            <a:ext cx="32954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>
            <a:off x="990295" y="5324551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1086307" y="5400446"/>
            <a:ext cx="114300" cy="15270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901745" y="5781751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0"/>
          <p:cNvSpPr/>
          <p:nvPr/>
        </p:nvSpPr>
        <p:spPr>
          <a:xfrm>
            <a:off x="6644945" y="5781751"/>
            <a:ext cx="27432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1"/>
          <p:cNvSpPr/>
          <p:nvPr/>
        </p:nvSpPr>
        <p:spPr>
          <a:xfrm>
            <a:off x="990295" y="5943600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1057046" y="6019495"/>
            <a:ext cx="171907" cy="152705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 t="-2" b="-2"/>
          <a:stretch/>
        </p:blipFill>
        <p:spPr>
          <a:xfrm>
            <a:off x="1828800" y="6705295"/>
            <a:ext cx="8534095" cy="685800"/>
          </a:xfrm>
          <a:prstGeom prst="rect">
            <a:avLst/>
          </a:prstGeom>
        </p:spPr>
      </p:pic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171700" y="6953098"/>
            <a:ext cx="142646" cy="190195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2467051" y="6705295"/>
            <a:ext cx="7668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Conclusão: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MOV ocupa um "oceano azul" ao unir a conveniência tecnológica dos apps com a profundidade da experiência presencial guiada. </a:t>
            </a:r>
            <a:endParaRPr lang="en-US" sz="10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5206594" y="2889504"/>
            <a:ext cx="133502" cy="181051"/>
          </a:xfrm>
          <a:prstGeom prst="rect">
            <a:avLst/>
          </a:prstGeom>
        </p:spPr>
      </p:pic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7949794" y="2915107"/>
            <a:ext cx="133502" cy="152705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5206594" y="3534156"/>
            <a:ext cx="133502" cy="152705"/>
          </a:xfrm>
          <a:prstGeom prst="rect">
            <a:avLst/>
          </a:prstGeom>
        </p:spPr>
      </p:pic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7949794" y="3508553"/>
            <a:ext cx="133502" cy="181051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5206594" y="4127602"/>
            <a:ext cx="133502" cy="181051"/>
          </a:xfrm>
          <a:prstGeom prst="rect">
            <a:avLst/>
          </a:prstGeom>
        </p:spPr>
      </p:pic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7949794" y="4127602"/>
            <a:ext cx="133502" cy="181051"/>
          </a:xfrm>
          <a:prstGeom prst="rect">
            <a:avLst/>
          </a:prstGeom>
        </p:spPr>
      </p:pic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5206594" y="4747565"/>
            <a:ext cx="133502" cy="181051"/>
          </a:xfrm>
          <a:prstGeom prst="rect">
            <a:avLst/>
          </a:prstGeom>
        </p:spPr>
      </p:pic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7949794" y="4747565"/>
            <a:ext cx="133502" cy="181051"/>
          </a:xfrm>
          <a:prstGeom prst="rect">
            <a:avLst/>
          </a:prstGeom>
        </p:spPr>
      </p:pic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5206594" y="5391302"/>
            <a:ext cx="133502" cy="152705"/>
          </a:xfrm>
          <a:prstGeom prst="rect">
            <a:avLst/>
          </a:prstGeom>
        </p:spPr>
      </p:pic>
      <p:pic>
        <p:nvPicPr>
          <p:cNvPr id="56" name="Image 21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7949794" y="5366614"/>
            <a:ext cx="133502" cy="181051"/>
          </a:xfrm>
          <a:prstGeom prst="rect">
            <a:avLst/>
          </a:prstGeom>
        </p:spPr>
      </p:pic>
      <p:pic>
        <p:nvPicPr>
          <p:cNvPr id="57" name="Image 22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5206594" y="5985662"/>
            <a:ext cx="133502" cy="181051"/>
          </a:xfrm>
          <a:prstGeom prst="rect">
            <a:avLst/>
          </a:prstGeom>
        </p:spPr>
      </p:pic>
      <p:pic>
        <p:nvPicPr>
          <p:cNvPr id="58" name="Image 23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7949794" y="5985662"/>
            <a:ext cx="133502" cy="181051"/>
          </a:xfrm>
          <a:prstGeom prst="rect">
            <a:avLst/>
          </a:prstGeom>
        </p:spPr>
      </p:pic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17"/>
          <a:srcRect t="-10" b="-10"/>
          <a:stretch/>
        </p:blipFill>
        <p:spPr>
          <a:xfrm>
            <a:off x="9388145" y="1762049"/>
            <a:ext cx="2194560" cy="933602"/>
          </a:xfrm>
          <a:prstGeom prst="rect">
            <a:avLst/>
          </a:prstGeom>
        </p:spPr>
      </p:pic>
      <p:pic>
        <p:nvPicPr>
          <p:cNvPr id="60" name="Image 25" descr="preencoded.png"/>
          <p:cNvPicPr>
            <a:picLocks noChangeAspect="1"/>
          </p:cNvPicPr>
          <p:nvPr/>
        </p:nvPicPr>
        <p:blipFill>
          <a:blip r:embed="rId18"/>
          <a:srcRect l="-760" r="-760"/>
          <a:stretch/>
        </p:blipFill>
        <p:spPr>
          <a:xfrm>
            <a:off x="10082174" y="2133295"/>
            <a:ext cx="152705" cy="171907"/>
          </a:xfrm>
          <a:prstGeom prst="rect">
            <a:avLst/>
          </a:prstGeom>
        </p:spPr>
      </p:pic>
      <p:pic>
        <p:nvPicPr>
          <p:cNvPr id="61" name="Image 26" descr="preencoded.png"/>
          <p:cNvPicPr>
            <a:picLocks noChangeAspect="1"/>
          </p:cNvPicPr>
          <p:nvPr/>
        </p:nvPicPr>
        <p:blipFill>
          <a:blip r:embed="rId19"/>
          <a:srcRect l="-5" r="-5"/>
          <a:stretch/>
        </p:blipFill>
        <p:spPr>
          <a:xfrm>
            <a:off x="9388145" y="2695651"/>
            <a:ext cx="2194560" cy="619049"/>
          </a:xfrm>
          <a:prstGeom prst="rect">
            <a:avLst/>
          </a:prstGeom>
        </p:spPr>
      </p:pic>
      <p:pic>
        <p:nvPicPr>
          <p:cNvPr id="62" name="Image 2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2875788"/>
            <a:ext cx="209398" cy="209398"/>
          </a:xfrm>
          <a:prstGeom prst="rect">
            <a:avLst/>
          </a:prstGeom>
        </p:spPr>
      </p:pic>
      <p:pic>
        <p:nvPicPr>
          <p:cNvPr id="63" name="Image 28" descr="preencoded.png"/>
          <p:cNvPicPr>
            <a:picLocks noChangeAspect="1"/>
          </p:cNvPicPr>
          <p:nvPr/>
        </p:nvPicPr>
        <p:blipFill>
          <a:blip r:embed="rId19"/>
          <a:srcRect l="-5" r="-5"/>
          <a:stretch/>
        </p:blipFill>
        <p:spPr>
          <a:xfrm>
            <a:off x="9388145" y="3314700"/>
            <a:ext cx="2194560" cy="619049"/>
          </a:xfrm>
          <a:prstGeom prst="rect">
            <a:avLst/>
          </a:prstGeom>
        </p:spPr>
      </p:pic>
      <p:pic>
        <p:nvPicPr>
          <p:cNvPr id="64" name="Image 2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3494837"/>
            <a:ext cx="209398" cy="209398"/>
          </a:xfrm>
          <a:prstGeom prst="rect">
            <a:avLst/>
          </a:prstGeom>
        </p:spPr>
      </p:pic>
      <p:pic>
        <p:nvPicPr>
          <p:cNvPr id="65" name="Image 30" descr="preencoded.png"/>
          <p:cNvPicPr>
            <a:picLocks noChangeAspect="1"/>
          </p:cNvPicPr>
          <p:nvPr/>
        </p:nvPicPr>
        <p:blipFill>
          <a:blip r:embed="rId19"/>
          <a:srcRect l="-5" r="-5"/>
          <a:stretch/>
        </p:blipFill>
        <p:spPr>
          <a:xfrm>
            <a:off x="9388145" y="3933749"/>
            <a:ext cx="2194560" cy="619049"/>
          </a:xfrm>
          <a:prstGeom prst="rect">
            <a:avLst/>
          </a:prstGeom>
        </p:spPr>
      </p:pic>
      <p:pic>
        <p:nvPicPr>
          <p:cNvPr id="66" name="Image 31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4113886"/>
            <a:ext cx="209398" cy="209398"/>
          </a:xfrm>
          <a:prstGeom prst="rect">
            <a:avLst/>
          </a:prstGeom>
        </p:spPr>
      </p:pic>
      <p:pic>
        <p:nvPicPr>
          <p:cNvPr id="67" name="Image 32" descr="preencoded.png"/>
          <p:cNvPicPr>
            <a:picLocks noChangeAspect="1"/>
          </p:cNvPicPr>
          <p:nvPr/>
        </p:nvPicPr>
        <p:blipFill>
          <a:blip r:embed="rId19"/>
          <a:srcRect l="-5" r="-5"/>
          <a:stretch/>
        </p:blipFill>
        <p:spPr>
          <a:xfrm>
            <a:off x="9388145" y="4552798"/>
            <a:ext cx="2194560" cy="619049"/>
          </a:xfrm>
          <a:prstGeom prst="rect">
            <a:avLst/>
          </a:prstGeom>
        </p:spPr>
      </p:pic>
      <p:pic>
        <p:nvPicPr>
          <p:cNvPr id="68" name="Image 3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4732934"/>
            <a:ext cx="209398" cy="209398"/>
          </a:xfrm>
          <a:prstGeom prst="rect">
            <a:avLst/>
          </a:prstGeom>
        </p:spPr>
      </p:pic>
      <p:pic>
        <p:nvPicPr>
          <p:cNvPr id="69" name="Image 34" descr="preencoded.png"/>
          <p:cNvPicPr>
            <a:picLocks noChangeAspect="1"/>
          </p:cNvPicPr>
          <p:nvPr/>
        </p:nvPicPr>
        <p:blipFill>
          <a:blip r:embed="rId19"/>
          <a:srcRect l="-5" r="-5"/>
          <a:stretch/>
        </p:blipFill>
        <p:spPr>
          <a:xfrm>
            <a:off x="9388145" y="5171846"/>
            <a:ext cx="2194560" cy="619049"/>
          </a:xfrm>
          <a:prstGeom prst="rect">
            <a:avLst/>
          </a:prstGeom>
        </p:spPr>
      </p:pic>
      <p:pic>
        <p:nvPicPr>
          <p:cNvPr id="70" name="Image 35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5351983"/>
            <a:ext cx="209398" cy="209398"/>
          </a:xfrm>
          <a:prstGeom prst="rect">
            <a:avLst/>
          </a:prstGeom>
        </p:spPr>
      </p:pic>
      <p:pic>
        <p:nvPicPr>
          <p:cNvPr id="71" name="Image 36" descr="preencoded.png"/>
          <p:cNvPicPr>
            <a:picLocks noChangeAspect="1"/>
          </p:cNvPicPr>
          <p:nvPr/>
        </p:nvPicPr>
        <p:blipFill>
          <a:blip r:embed="rId21"/>
          <a:srcRect t="-26" b="-26"/>
          <a:stretch/>
        </p:blipFill>
        <p:spPr>
          <a:xfrm>
            <a:off x="9388145" y="5790895"/>
            <a:ext cx="2194560" cy="609905"/>
          </a:xfrm>
          <a:prstGeom prst="rect">
            <a:avLst/>
          </a:prstGeom>
        </p:spPr>
      </p:pic>
      <p:pic>
        <p:nvPicPr>
          <p:cNvPr id="72" name="Image 3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380269" y="5966460"/>
            <a:ext cx="209398" cy="209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6096305" y="6801307"/>
            <a:ext cx="30476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5576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Oportunidade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</a:t>
            </a:r>
            <a:endParaRPr lang="en-US" sz="3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553505" y="1762049"/>
            <a:ext cx="5029200" cy="1490472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6791249" y="2000707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6910121" y="2133295"/>
            <a:ext cx="219456" cy="1901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438644" y="2000707"/>
            <a:ext cx="4019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12M+</a:t>
            </a:r>
            <a:endParaRPr lang="en-US" sz="2200" dirty="0"/>
          </a:p>
        </p:txBody>
      </p:sp>
      <p:sp>
        <p:nvSpPr>
          <p:cNvPr id="15" name="Text 7"/>
          <p:cNvSpPr txBox="1"/>
          <p:nvPr/>
        </p:nvSpPr>
        <p:spPr>
          <a:xfrm>
            <a:off x="7438644" y="2381098"/>
            <a:ext cx="4019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Habitantes em SP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7438644" y="2648102"/>
            <a:ext cx="39822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densidade de solteiros urbanos com renda média superior à nacional. O terreno perfeito para validação.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553505" y="3481121"/>
            <a:ext cx="5029200" cy="1490472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91249" y="3719779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24751" y="3853282"/>
            <a:ext cx="190195" cy="19019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7438644" y="3719779"/>
            <a:ext cx="4019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10 Bi</a:t>
            </a:r>
            <a:endParaRPr lang="en-US" sz="2200" dirty="0"/>
          </a:p>
        </p:txBody>
      </p:sp>
      <p:sp>
        <p:nvSpPr>
          <p:cNvPr id="21" name="Text 11"/>
          <p:cNvSpPr txBox="1"/>
          <p:nvPr/>
        </p:nvSpPr>
        <p:spPr>
          <a:xfrm>
            <a:off x="7438644" y="4100170"/>
            <a:ext cx="4019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Global</a:t>
            </a:r>
            <a:endParaRPr lang="en-US" sz="1000" dirty="0"/>
          </a:p>
        </p:txBody>
      </p:sp>
      <p:sp>
        <p:nvSpPr>
          <p:cNvPr id="22" name="Text 12"/>
          <p:cNvSpPr txBox="1"/>
          <p:nvPr/>
        </p:nvSpPr>
        <p:spPr>
          <a:xfrm>
            <a:off x="7438644" y="4367174"/>
            <a:ext cx="39822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Indústria de dating apps e serviços continua crescendo, mas com demanda reprimida por inovação fora das telas.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6553505" y="5201107"/>
            <a:ext cx="5029200" cy="137160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4"/>
          <p:cNvSpPr/>
          <p:nvPr/>
        </p:nvSpPr>
        <p:spPr>
          <a:xfrm>
            <a:off x="10963656" y="4600346"/>
            <a:ext cx="1218895" cy="1218895"/>
          </a:xfrm>
          <a:prstGeom prst="ellipse">
            <a:avLst/>
          </a:prstGeom>
          <a:solidFill>
            <a:srgbClr val="E8000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5"/>
          <p:cNvSpPr/>
          <p:nvPr/>
        </p:nvSpPr>
        <p:spPr>
          <a:xfrm>
            <a:off x="6981444" y="5438851"/>
            <a:ext cx="457200" cy="45720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101230" y="5572354"/>
            <a:ext cx="219456" cy="190195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t="-8" b="-8"/>
          <a:stretch/>
        </p:blipFill>
        <p:spPr>
          <a:xfrm>
            <a:off x="1705814" y="4655211"/>
            <a:ext cx="1904695" cy="11430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641348" y="4825789"/>
            <a:ext cx="1981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2200" dirty="0"/>
          </a:p>
        </p:txBody>
      </p:sp>
      <p:sp>
        <p:nvSpPr>
          <p:cNvPr id="29" name="Text 17"/>
          <p:cNvSpPr txBox="1"/>
          <p:nvPr/>
        </p:nvSpPr>
        <p:spPr>
          <a:xfrm>
            <a:off x="1667408" y="5133692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Mercado Alcançável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Shape 18"/>
          <p:cNvSpPr/>
          <p:nvPr/>
        </p:nvSpPr>
        <p:spPr>
          <a:xfrm>
            <a:off x="4686300" y="5384902"/>
            <a:ext cx="381305" cy="9144"/>
          </a:xfrm>
          <a:prstGeom prst="rect">
            <a:avLst/>
          </a:prstGeom>
          <a:solidFill>
            <a:srgbClr val="E8000E"/>
          </a:solidFill>
          <a:ln w="12700">
            <a:solidFill>
              <a:srgbClr val="E80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19"/>
          <p:cNvSpPr txBox="1"/>
          <p:nvPr/>
        </p:nvSpPr>
        <p:spPr>
          <a:xfrm>
            <a:off x="3580791" y="4912541"/>
            <a:ext cx="2372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R$ 1,5 Mi</a:t>
            </a:r>
            <a:endParaRPr lang="en-US" sz="3600" dirty="0"/>
          </a:p>
        </p:txBody>
      </p:sp>
      <p:sp>
        <p:nvSpPr>
          <p:cNvPr id="32" name="Text 20"/>
          <p:cNvSpPr txBox="1"/>
          <p:nvPr/>
        </p:nvSpPr>
        <p:spPr>
          <a:xfrm>
            <a:off x="4020976" y="559715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Inicial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1014528" y="3479793"/>
            <a:ext cx="3333902" cy="1143000"/>
          </a:xfrm>
          <a:custGeom>
            <a:avLst/>
            <a:gdLst/>
            <a:ahLst/>
            <a:cxnLst/>
            <a:rect l="l" t="t" r="r" b="b"/>
            <a:pathLst>
              <a:path w="3333902" h="1143000">
                <a:moveTo>
                  <a:pt x="0" y="0"/>
                </a:moveTo>
                <a:lnTo>
                  <a:pt x="3333902" y="0"/>
                </a:lnTo>
                <a:lnTo>
                  <a:pt x="2667122" y="1143000"/>
                </a:lnTo>
                <a:lnTo>
                  <a:pt x="666780" y="114300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2"/>
          <p:cNvSpPr txBox="1"/>
          <p:nvPr/>
        </p:nvSpPr>
        <p:spPr>
          <a:xfrm>
            <a:off x="1507389" y="3766764"/>
            <a:ext cx="23481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800" dirty="0"/>
          </a:p>
        </p:txBody>
      </p:sp>
      <p:sp>
        <p:nvSpPr>
          <p:cNvPr id="35" name="Text 23"/>
          <p:cNvSpPr txBox="1"/>
          <p:nvPr/>
        </p:nvSpPr>
        <p:spPr>
          <a:xfrm>
            <a:off x="1559739" y="4053491"/>
            <a:ext cx="23481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Mercado Acessível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Shape 24"/>
          <p:cNvSpPr/>
          <p:nvPr/>
        </p:nvSpPr>
        <p:spPr>
          <a:xfrm>
            <a:off x="4976622" y="4087088"/>
            <a:ext cx="381305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5"/>
          <p:cNvSpPr txBox="1"/>
          <p:nvPr/>
        </p:nvSpPr>
        <p:spPr>
          <a:xfrm>
            <a:off x="4403292" y="3791443"/>
            <a:ext cx="1791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R$ 380 Mi</a:t>
            </a:r>
            <a:endParaRPr lang="en-US" sz="2200" dirty="0"/>
          </a:p>
        </p:txBody>
      </p:sp>
      <p:sp>
        <p:nvSpPr>
          <p:cNvPr id="38" name="Text 26"/>
          <p:cNvSpPr txBox="1"/>
          <p:nvPr/>
        </p:nvSpPr>
        <p:spPr>
          <a:xfrm>
            <a:off x="4462272" y="4224727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São Paulo Capital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305410" y="2314804"/>
            <a:ext cx="4762195" cy="1143000"/>
          </a:xfrm>
          <a:custGeom>
            <a:avLst/>
            <a:gdLst/>
            <a:ahLst/>
            <a:cxnLst/>
            <a:rect l="l" t="t" r="r" b="b"/>
            <a:pathLst>
              <a:path w="4762195" h="1143000">
                <a:moveTo>
                  <a:pt x="0" y="0"/>
                </a:moveTo>
                <a:lnTo>
                  <a:pt x="4762195" y="0"/>
                </a:lnTo>
                <a:lnTo>
                  <a:pt x="4047866" y="1143000"/>
                </a:lnTo>
                <a:lnTo>
                  <a:pt x="714329" y="1143000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28"/>
          <p:cNvSpPr txBox="1"/>
          <p:nvPr/>
        </p:nvSpPr>
        <p:spPr>
          <a:xfrm>
            <a:off x="1641348" y="2648102"/>
            <a:ext cx="20903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800" dirty="0"/>
          </a:p>
        </p:txBody>
      </p:sp>
      <p:sp>
        <p:nvSpPr>
          <p:cNvPr id="41" name="Text 29"/>
          <p:cNvSpPr txBox="1"/>
          <p:nvPr/>
        </p:nvSpPr>
        <p:spPr>
          <a:xfrm>
            <a:off x="1641348" y="2962655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Mercado Total Disponível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Shape 30"/>
          <p:cNvSpPr/>
          <p:nvPr/>
        </p:nvSpPr>
        <p:spPr>
          <a:xfrm>
            <a:off x="5863303" y="2912291"/>
            <a:ext cx="381305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1"/>
          <p:cNvSpPr txBox="1"/>
          <p:nvPr/>
        </p:nvSpPr>
        <p:spPr>
          <a:xfrm>
            <a:off x="5067604" y="2590846"/>
            <a:ext cx="1791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R$ 2,4 Bi</a:t>
            </a:r>
            <a:endParaRPr lang="en-US" sz="2200" dirty="0"/>
          </a:p>
        </p:txBody>
      </p:sp>
      <p:sp>
        <p:nvSpPr>
          <p:cNvPr id="44" name="Text 32"/>
          <p:cNvSpPr txBox="1"/>
          <p:nvPr/>
        </p:nvSpPr>
        <p:spPr>
          <a:xfrm>
            <a:off x="5242469" y="3023006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Brasil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7629754" y="5438851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Tendência Global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7629754" y="5781751"/>
            <a:ext cx="37911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"Retorno ao Presencial": Pós-pandemia, o valor da experiência </a:t>
            </a:r>
            <a:r>
              <a:rPr lang="en-US" sz="1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IRL (In Real Life)</a:t>
            </a:r>
            <a:r>
              <a:rPr lang="en-US" sz="1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explodiu. A MOV lidera essa onda no Brasil.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t="-405" b="-405"/>
          <a:stretch/>
        </p:blipFill>
        <p:spPr>
          <a:xfrm>
            <a:off x="4572000" y="6801307"/>
            <a:ext cx="3047695" cy="5760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4"/>
          <p:cNvSpPr txBox="1"/>
          <p:nvPr/>
        </p:nvSpPr>
        <p:spPr>
          <a:xfrm>
            <a:off x="609905" y="647395"/>
            <a:ext cx="67107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Público-Alvo &amp;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3600" dirty="0"/>
          </a:p>
        </p:txBody>
      </p:sp>
      <p:sp>
        <p:nvSpPr>
          <p:cNvPr id="12" name="Shape 5"/>
          <p:cNvSpPr/>
          <p:nvPr/>
        </p:nvSpPr>
        <p:spPr>
          <a:xfrm>
            <a:off x="1898294" y="6241694"/>
            <a:ext cx="8401507" cy="362102"/>
          </a:xfrm>
          <a:prstGeom prst="roundRect">
            <a:avLst>
              <a:gd name="adj" fmla="val 25252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36038" y="6346850"/>
            <a:ext cx="152705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403043" y="6241694"/>
            <a:ext cx="7734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Estratégia Cross-Selling: O app unifica a jornada, mas cada persona recebe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customizados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seu perfil. </a:t>
            </a:r>
            <a:endParaRPr lang="en-US" sz="1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609905" y="1837944"/>
            <a:ext cx="2572207" cy="409925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7649" y="2076602"/>
            <a:ext cx="533095" cy="533095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1028700" y="2247595"/>
            <a:ext cx="171907" cy="190195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2125066" y="2076602"/>
            <a:ext cx="819302" cy="247802"/>
          </a:xfrm>
          <a:prstGeom prst="roundRect">
            <a:avLst>
              <a:gd name="adj" fmla="val 11354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8"/>
          <p:cNvSpPr txBox="1"/>
          <p:nvPr/>
        </p:nvSpPr>
        <p:spPr>
          <a:xfrm>
            <a:off x="2125066" y="2076602"/>
            <a:ext cx="8769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25-35 Anos</a:t>
            </a:r>
            <a:endParaRPr lang="en-US" sz="900" dirty="0"/>
          </a:p>
        </p:txBody>
      </p:sp>
      <p:sp>
        <p:nvSpPr>
          <p:cNvPr id="20" name="Text 9"/>
          <p:cNvSpPr txBox="1"/>
          <p:nvPr/>
        </p:nvSpPr>
        <p:spPr>
          <a:xfrm>
            <a:off x="847649" y="2838298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Jovens Urbanos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847649" y="31437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Digitais &amp; Experienciais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847649" y="3448202"/>
            <a:ext cx="2171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Nativos digitais cansados da superficialidade dos apps. Buscam autenticidade, eficiência e experiências "instagramáveis" mas reais.</a:t>
            </a:r>
            <a:endParaRPr lang="en-US" sz="1000" dirty="0"/>
          </a:p>
        </p:txBody>
      </p:sp>
      <p:sp>
        <p:nvSpPr>
          <p:cNvPr id="23" name="Shape 12"/>
          <p:cNvSpPr/>
          <p:nvPr/>
        </p:nvSpPr>
        <p:spPr>
          <a:xfrm>
            <a:off x="847649" y="4836262"/>
            <a:ext cx="20958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3"/>
          <p:cNvSpPr txBox="1"/>
          <p:nvPr/>
        </p:nvSpPr>
        <p:spPr>
          <a:xfrm>
            <a:off x="847649" y="4998110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Motivadores-Chave</a:t>
            </a:r>
            <a:endParaRPr lang="en-US" sz="900" dirty="0"/>
          </a:p>
        </p:txBody>
      </p:sp>
      <p:sp>
        <p:nvSpPr>
          <p:cNvPr id="25" name="Shape 14"/>
          <p:cNvSpPr/>
          <p:nvPr/>
        </p:nvSpPr>
        <p:spPr>
          <a:xfrm>
            <a:off x="847649" y="5226710"/>
            <a:ext cx="1143000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5"/>
          <p:cNvSpPr/>
          <p:nvPr/>
        </p:nvSpPr>
        <p:spPr>
          <a:xfrm>
            <a:off x="809244" y="5226710"/>
            <a:ext cx="12198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Autenticidade</a:t>
            </a:r>
            <a:endParaRPr lang="en-US" sz="800" dirty="0"/>
          </a:p>
        </p:txBody>
      </p:sp>
      <p:sp>
        <p:nvSpPr>
          <p:cNvPr id="27" name="Shape 16"/>
          <p:cNvSpPr/>
          <p:nvPr/>
        </p:nvSpPr>
        <p:spPr>
          <a:xfrm>
            <a:off x="2063801" y="5226710"/>
            <a:ext cx="780898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17"/>
          <p:cNvSpPr/>
          <p:nvPr/>
        </p:nvSpPr>
        <p:spPr>
          <a:xfrm>
            <a:off x="2025396" y="5226710"/>
            <a:ext cx="8577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Dinâmica</a:t>
            </a:r>
            <a:endParaRPr lang="en-US" sz="800" dirty="0"/>
          </a:p>
        </p:txBody>
      </p:sp>
      <p:sp>
        <p:nvSpPr>
          <p:cNvPr id="29" name="Shape 18"/>
          <p:cNvSpPr/>
          <p:nvPr/>
        </p:nvSpPr>
        <p:spPr>
          <a:xfrm>
            <a:off x="847649" y="5501030"/>
            <a:ext cx="809244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19"/>
          <p:cNvSpPr/>
          <p:nvPr/>
        </p:nvSpPr>
        <p:spPr>
          <a:xfrm>
            <a:off x="809244" y="5501030"/>
            <a:ext cx="8860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Novidade</a:t>
            </a:r>
            <a:endParaRPr lang="en-US" sz="8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3409798" y="1837944"/>
            <a:ext cx="2572207" cy="409925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648456" y="2076602"/>
            <a:ext cx="533095" cy="533095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3829507" y="2247595"/>
            <a:ext cx="171907" cy="19019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906670" y="2076602"/>
            <a:ext cx="838505" cy="247802"/>
          </a:xfrm>
          <a:prstGeom prst="roundRect">
            <a:avLst>
              <a:gd name="adj" fmla="val 11354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1"/>
          <p:cNvSpPr txBox="1"/>
          <p:nvPr/>
        </p:nvSpPr>
        <p:spPr>
          <a:xfrm>
            <a:off x="4906670" y="2076602"/>
            <a:ext cx="896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36-50 Anos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3648456" y="2838298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Adultos Seletivos</a:t>
            </a:r>
            <a:endParaRPr lang="en-US" sz="1500" dirty="0"/>
          </a:p>
        </p:txBody>
      </p:sp>
      <p:sp>
        <p:nvSpPr>
          <p:cNvPr id="37" name="Text 23"/>
          <p:cNvSpPr txBox="1"/>
          <p:nvPr/>
        </p:nvSpPr>
        <p:spPr>
          <a:xfrm>
            <a:off x="3648456" y="31437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Exigentes &amp; Pragmáticos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3648456" y="3448202"/>
            <a:ext cx="2171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Profissionais estabelecidos que valorizam seu tempo. Buscam curadoria, segurança e ambientes sofisticados para conexões de qualidade.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3648456" y="4836262"/>
            <a:ext cx="20958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26"/>
          <p:cNvSpPr txBox="1"/>
          <p:nvPr/>
        </p:nvSpPr>
        <p:spPr>
          <a:xfrm>
            <a:off x="3648456" y="4998110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Motivadores-Chave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3648456" y="5226710"/>
            <a:ext cx="895198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28"/>
          <p:cNvSpPr/>
          <p:nvPr/>
        </p:nvSpPr>
        <p:spPr>
          <a:xfrm>
            <a:off x="3610051" y="5226710"/>
            <a:ext cx="9720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Curadoria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4612234" y="5226710"/>
            <a:ext cx="905256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0"/>
          <p:cNvSpPr/>
          <p:nvPr/>
        </p:nvSpPr>
        <p:spPr>
          <a:xfrm>
            <a:off x="4573829" y="5226710"/>
            <a:ext cx="9811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</a:t>
            </a:r>
            <a:endParaRPr lang="en-US" sz="800" dirty="0"/>
          </a:p>
        </p:txBody>
      </p:sp>
      <p:sp>
        <p:nvSpPr>
          <p:cNvPr id="45" name="Shape 31"/>
          <p:cNvSpPr/>
          <p:nvPr/>
        </p:nvSpPr>
        <p:spPr>
          <a:xfrm>
            <a:off x="3648456" y="5501030"/>
            <a:ext cx="886054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2"/>
          <p:cNvSpPr/>
          <p:nvPr/>
        </p:nvSpPr>
        <p:spPr>
          <a:xfrm>
            <a:off x="3610051" y="5501030"/>
            <a:ext cx="9628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</a:t>
            </a:r>
            <a:endParaRPr lang="en-US" sz="8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6210605" y="1837944"/>
            <a:ext cx="2572207" cy="4099255"/>
          </a:xfrm>
          <a:prstGeom prst="rect">
            <a:avLst/>
          </a:prstGeom>
        </p:spPr>
      </p:pic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48349" y="2076602"/>
            <a:ext cx="533095" cy="533095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96482" y="2247595"/>
            <a:ext cx="237744" cy="190195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7604150" y="2076602"/>
            <a:ext cx="942746" cy="247802"/>
          </a:xfrm>
          <a:prstGeom prst="roundRect">
            <a:avLst>
              <a:gd name="adj" fmla="val 11354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34"/>
          <p:cNvSpPr txBox="1"/>
          <p:nvPr/>
        </p:nvSpPr>
        <p:spPr>
          <a:xfrm>
            <a:off x="7604150" y="2076602"/>
            <a:ext cx="10003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6448349" y="2838298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 LGBT+</a:t>
            </a:r>
            <a:endParaRPr lang="en-US" sz="1500" dirty="0"/>
          </a:p>
        </p:txBody>
      </p:sp>
      <p:sp>
        <p:nvSpPr>
          <p:cNvPr id="53" name="Text 36"/>
          <p:cNvSpPr txBox="1"/>
          <p:nvPr/>
        </p:nvSpPr>
        <p:spPr>
          <a:xfrm>
            <a:off x="6448349" y="31437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Diversidade &amp; Inclusão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6448349" y="3448202"/>
            <a:ext cx="2171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 que busca espaços seguros e respeitosos para socialização, fugindo da hipersexualização de apps de nicho.</a:t>
            </a:r>
            <a:endParaRPr lang="en-US" sz="1000" dirty="0"/>
          </a:p>
        </p:txBody>
      </p:sp>
      <p:sp>
        <p:nvSpPr>
          <p:cNvPr id="55" name="Shape 38"/>
          <p:cNvSpPr/>
          <p:nvPr/>
        </p:nvSpPr>
        <p:spPr>
          <a:xfrm>
            <a:off x="6448349" y="4836262"/>
            <a:ext cx="20958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39"/>
          <p:cNvSpPr txBox="1"/>
          <p:nvPr/>
        </p:nvSpPr>
        <p:spPr>
          <a:xfrm>
            <a:off x="6448349" y="4998110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Motivadores-Chave</a:t>
            </a:r>
            <a:endParaRPr lang="en-US" sz="900" dirty="0"/>
          </a:p>
        </p:txBody>
      </p:sp>
      <p:sp>
        <p:nvSpPr>
          <p:cNvPr id="57" name="Shape 40"/>
          <p:cNvSpPr/>
          <p:nvPr/>
        </p:nvSpPr>
        <p:spPr>
          <a:xfrm>
            <a:off x="6448349" y="5226710"/>
            <a:ext cx="780898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41"/>
          <p:cNvSpPr/>
          <p:nvPr/>
        </p:nvSpPr>
        <p:spPr>
          <a:xfrm>
            <a:off x="6409944" y="5226710"/>
            <a:ext cx="8577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Inclusão</a:t>
            </a:r>
            <a:endParaRPr lang="en-US" sz="800" dirty="0"/>
          </a:p>
        </p:txBody>
      </p:sp>
      <p:sp>
        <p:nvSpPr>
          <p:cNvPr id="59" name="Shape 42"/>
          <p:cNvSpPr/>
          <p:nvPr/>
        </p:nvSpPr>
        <p:spPr>
          <a:xfrm>
            <a:off x="7298741" y="5226710"/>
            <a:ext cx="752551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43"/>
          <p:cNvSpPr/>
          <p:nvPr/>
        </p:nvSpPr>
        <p:spPr>
          <a:xfrm>
            <a:off x="7261250" y="5226710"/>
            <a:ext cx="8293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Respeito</a:t>
            </a:r>
            <a:endParaRPr lang="en-US" sz="800" dirty="0"/>
          </a:p>
        </p:txBody>
      </p:sp>
      <p:sp>
        <p:nvSpPr>
          <p:cNvPr id="61" name="Shape 44"/>
          <p:cNvSpPr/>
          <p:nvPr/>
        </p:nvSpPr>
        <p:spPr>
          <a:xfrm>
            <a:off x="6448349" y="5501030"/>
            <a:ext cx="1104595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45"/>
          <p:cNvSpPr/>
          <p:nvPr/>
        </p:nvSpPr>
        <p:spPr>
          <a:xfrm>
            <a:off x="6409944" y="5501030"/>
            <a:ext cx="11814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Conexão Real</a:t>
            </a:r>
            <a:endParaRPr lang="en-US" sz="800" dirty="0"/>
          </a:p>
        </p:txBody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9010498" y="1837944"/>
            <a:ext cx="2572207" cy="4099255"/>
          </a:xfrm>
          <a:prstGeom prst="rect">
            <a:avLst/>
          </a:prstGeom>
        </p:spPr>
      </p:pic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49156" y="2076602"/>
            <a:ext cx="533095" cy="533095"/>
          </a:xfrm>
          <a:prstGeom prst="rect">
            <a:avLst/>
          </a:prstGeom>
        </p:spPr>
      </p:pic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9405518" y="2247595"/>
            <a:ext cx="219456" cy="190195"/>
          </a:xfrm>
          <a:prstGeom prst="rect">
            <a:avLst/>
          </a:prstGeom>
        </p:spPr>
      </p:pic>
      <p:sp>
        <p:nvSpPr>
          <p:cNvPr id="66" name="Shape 46"/>
          <p:cNvSpPr/>
          <p:nvPr/>
        </p:nvSpPr>
        <p:spPr>
          <a:xfrm>
            <a:off x="10618927" y="2076602"/>
            <a:ext cx="733349" cy="247802"/>
          </a:xfrm>
          <a:prstGeom prst="roundRect">
            <a:avLst>
              <a:gd name="adj" fmla="val 11354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47"/>
          <p:cNvSpPr txBox="1"/>
          <p:nvPr/>
        </p:nvSpPr>
        <p:spPr>
          <a:xfrm>
            <a:off x="10618927" y="2076602"/>
            <a:ext cx="7909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60+ Anos</a:t>
            </a:r>
            <a:endParaRPr lang="en-US" sz="900" dirty="0"/>
          </a:p>
        </p:txBody>
      </p:sp>
      <p:sp>
        <p:nvSpPr>
          <p:cNvPr id="68" name="Text 48"/>
          <p:cNvSpPr txBox="1"/>
          <p:nvPr/>
        </p:nvSpPr>
        <p:spPr>
          <a:xfrm>
            <a:off x="9249156" y="2838298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Idosos Ativos</a:t>
            </a:r>
            <a:endParaRPr lang="en-US" sz="1500" dirty="0"/>
          </a:p>
        </p:txBody>
      </p:sp>
      <p:sp>
        <p:nvSpPr>
          <p:cNvPr id="69" name="Text 49"/>
          <p:cNvSpPr txBox="1"/>
          <p:nvPr/>
        </p:nvSpPr>
        <p:spPr>
          <a:xfrm>
            <a:off x="9249156" y="31437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Sociabilidade &amp; Vida</a:t>
            </a:r>
            <a:endParaRPr lang="en-US" sz="900" dirty="0"/>
          </a:p>
        </p:txBody>
      </p:sp>
      <p:sp>
        <p:nvSpPr>
          <p:cNvPr id="70" name="Text 50"/>
          <p:cNvSpPr txBox="1"/>
          <p:nvPr/>
        </p:nvSpPr>
        <p:spPr>
          <a:xfrm>
            <a:off x="9249156" y="3448202"/>
            <a:ext cx="2171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 crescente e ativo que deseja combater a solidão com propostas guiadas, seguras e que estimulem novas amizades e companheirismo.</a:t>
            </a:r>
            <a:endParaRPr lang="en-US" sz="1000" dirty="0"/>
          </a:p>
        </p:txBody>
      </p:sp>
      <p:sp>
        <p:nvSpPr>
          <p:cNvPr id="71" name="Shape 51"/>
          <p:cNvSpPr/>
          <p:nvPr/>
        </p:nvSpPr>
        <p:spPr>
          <a:xfrm>
            <a:off x="9249156" y="4836262"/>
            <a:ext cx="20958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52"/>
          <p:cNvSpPr txBox="1"/>
          <p:nvPr/>
        </p:nvSpPr>
        <p:spPr>
          <a:xfrm>
            <a:off x="9249156" y="4998110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Motivadores-Chave</a:t>
            </a:r>
            <a:endParaRPr lang="en-US" sz="900" dirty="0"/>
          </a:p>
        </p:txBody>
      </p:sp>
      <p:sp>
        <p:nvSpPr>
          <p:cNvPr id="73" name="Shape 53"/>
          <p:cNvSpPr/>
          <p:nvPr/>
        </p:nvSpPr>
        <p:spPr>
          <a:xfrm>
            <a:off x="9249156" y="5226710"/>
            <a:ext cx="905256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54"/>
          <p:cNvSpPr/>
          <p:nvPr/>
        </p:nvSpPr>
        <p:spPr>
          <a:xfrm>
            <a:off x="9210751" y="5226710"/>
            <a:ext cx="9811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Companhia</a:t>
            </a:r>
            <a:endParaRPr lang="en-US" sz="800" dirty="0"/>
          </a:p>
        </p:txBody>
      </p:sp>
      <p:sp>
        <p:nvSpPr>
          <p:cNvPr id="75" name="Shape 55"/>
          <p:cNvSpPr/>
          <p:nvPr/>
        </p:nvSpPr>
        <p:spPr>
          <a:xfrm>
            <a:off x="10228478" y="5226710"/>
            <a:ext cx="809244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56"/>
          <p:cNvSpPr/>
          <p:nvPr/>
        </p:nvSpPr>
        <p:spPr>
          <a:xfrm>
            <a:off x="10190988" y="5226710"/>
            <a:ext cx="8860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Atividade</a:t>
            </a:r>
            <a:endParaRPr lang="en-US" sz="800" dirty="0"/>
          </a:p>
        </p:txBody>
      </p:sp>
      <p:sp>
        <p:nvSpPr>
          <p:cNvPr id="77" name="Shape 57"/>
          <p:cNvSpPr/>
          <p:nvPr/>
        </p:nvSpPr>
        <p:spPr>
          <a:xfrm>
            <a:off x="9249156" y="5501030"/>
            <a:ext cx="647395" cy="200254"/>
          </a:xfrm>
          <a:prstGeom prst="roundRect">
            <a:avLst>
              <a:gd name="adj" fmla="val 45662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58"/>
          <p:cNvSpPr/>
          <p:nvPr/>
        </p:nvSpPr>
        <p:spPr>
          <a:xfrm>
            <a:off x="9210751" y="5501030"/>
            <a:ext cx="7242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Guiado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8534095" y="6801307"/>
            <a:ext cx="30476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50099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Modelo de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</a:t>
            </a:r>
            <a:endParaRPr lang="en-US" sz="3600" dirty="0"/>
          </a:p>
        </p:txBody>
      </p:sp>
      <p:sp>
        <p:nvSpPr>
          <p:cNvPr id="11" name="Shape 5"/>
          <p:cNvSpPr/>
          <p:nvPr/>
        </p:nvSpPr>
        <p:spPr>
          <a:xfrm>
            <a:off x="-9144" y="1345916"/>
            <a:ext cx="12191695" cy="6258154"/>
          </a:xfrm>
          <a:prstGeom prst="rect">
            <a:avLst/>
          </a:prstGeom>
          <a:solidFill>
            <a:srgbClr val="F9FAF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450" r="-450"/>
          <a:stretch/>
        </p:blipFill>
        <p:spPr>
          <a:xfrm>
            <a:off x="584967" y="1503014"/>
            <a:ext cx="45719" cy="3044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57454" y="1540504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 de </a:t>
            </a:r>
            <a:r>
              <a:rPr lang="en-US" sz="1500" b="1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522580" y="1925324"/>
            <a:ext cx="2572207" cy="2581351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90956" y="2138782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909828" y="2290769"/>
            <a:ext cx="219456" cy="1901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62914" y="2697220"/>
            <a:ext cx="21717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Ingressos (Pay-per-Event)</a:t>
            </a:r>
            <a:endParaRPr lang="en-US" sz="1300" dirty="0"/>
          </a:p>
        </p:txBody>
      </p:sp>
      <p:sp>
        <p:nvSpPr>
          <p:cNvPr id="18" name="Text 9"/>
          <p:cNvSpPr txBox="1"/>
          <p:nvPr/>
        </p:nvSpPr>
        <p:spPr>
          <a:xfrm>
            <a:off x="762914" y="3293095"/>
            <a:ext cx="21717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 direta de ingressos para eventos avulsos. Modelo transacional simples e eficiente para novos usuários.</a:t>
            </a:r>
            <a:endParaRPr lang="en-US" sz="1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3390595" y="1936206"/>
            <a:ext cx="2572207" cy="2581351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3617367" y="2121677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3767328" y="2260137"/>
            <a:ext cx="219456" cy="190195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648456" y="2723997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Premium</a:t>
            </a:r>
            <a:endParaRPr lang="en-US" sz="1300" dirty="0"/>
          </a:p>
        </p:txBody>
      </p:sp>
      <p:sp>
        <p:nvSpPr>
          <p:cNvPr id="23" name="Text 12"/>
          <p:cNvSpPr txBox="1"/>
          <p:nvPr/>
        </p:nvSpPr>
        <p:spPr>
          <a:xfrm>
            <a:off x="3641231" y="3037870"/>
            <a:ext cx="21717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antecipado, descontos em eventos, conteúdos exclusivos e prioridade na fila de espera.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6190945" y="1952702"/>
            <a:ext cx="2572207" cy="2581351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6353251" y="2110588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58407" y="2244194"/>
            <a:ext cx="237744" cy="1901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6387083" y="2723996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Parcerias B2B</a:t>
            </a:r>
            <a:endParaRPr lang="en-US" sz="1300" dirty="0"/>
          </a:p>
        </p:txBody>
      </p:sp>
      <p:sp>
        <p:nvSpPr>
          <p:cNvPr id="28" name="Text 15"/>
          <p:cNvSpPr txBox="1"/>
          <p:nvPr/>
        </p:nvSpPr>
        <p:spPr>
          <a:xfrm>
            <a:off x="6436780" y="3037870"/>
            <a:ext cx="2171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Revenue-share com restaurantes e bares parceiros que hospedam os eventos (consumação mínima garantida).</a:t>
            </a:r>
            <a:endParaRPr lang="en-US" sz="10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9010498" y="1966417"/>
            <a:ext cx="2572207" cy="2581351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9172902" y="2147295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286879" y="2301088"/>
            <a:ext cx="190195" cy="190195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9184234" y="2721209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Add-ons &amp; Extras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9210751" y="3081071"/>
            <a:ext cx="21717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Serviços complementares como fotografia profissional de perfil, consultoria de imagem e workshops.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2"/>
          <a:srcRect t="-3" b="-3"/>
          <a:stretch/>
        </p:blipFill>
        <p:spPr>
          <a:xfrm>
            <a:off x="626124" y="4539558"/>
            <a:ext cx="10972800" cy="2305202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10963656" y="4505249"/>
            <a:ext cx="1218895" cy="1218895"/>
          </a:xfrm>
          <a:prstGeom prst="ellipse">
            <a:avLst/>
          </a:prstGeom>
          <a:solidFill>
            <a:srgbClr val="E8000E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6"/>
          <a:srcRect l="-450" r="-450"/>
          <a:stretch/>
        </p:blipFill>
        <p:spPr>
          <a:xfrm>
            <a:off x="956103" y="4818138"/>
            <a:ext cx="38405" cy="304495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1076249" y="4827308"/>
            <a:ext cx="35396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 Economics (Mensal Médio)</a:t>
            </a:r>
            <a:endParaRPr lang="en-US" sz="1500" dirty="0"/>
          </a:p>
        </p:txBody>
      </p:sp>
      <p:sp>
        <p:nvSpPr>
          <p:cNvPr id="38" name="Shape 21"/>
          <p:cNvSpPr/>
          <p:nvPr/>
        </p:nvSpPr>
        <p:spPr>
          <a:xfrm>
            <a:off x="4371746" y="6105449"/>
            <a:ext cx="9144" cy="83850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2"/>
          <p:cNvSpPr txBox="1"/>
          <p:nvPr/>
        </p:nvSpPr>
        <p:spPr>
          <a:xfrm>
            <a:off x="981151" y="5469771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Média</a:t>
            </a:r>
            <a:endParaRPr lang="en-US" sz="1000" dirty="0"/>
          </a:p>
        </p:txBody>
      </p:sp>
      <p:sp>
        <p:nvSpPr>
          <p:cNvPr id="40" name="Text 23"/>
          <p:cNvSpPr txBox="1"/>
          <p:nvPr/>
        </p:nvSpPr>
        <p:spPr>
          <a:xfrm>
            <a:off x="981151" y="5797805"/>
            <a:ext cx="3333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R$ 43.200</a:t>
            </a:r>
            <a:endParaRPr lang="en-US" sz="27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3"/>
          <a:srcRect l="-208" r="-208"/>
          <a:stretch/>
        </p:blipFill>
        <p:spPr>
          <a:xfrm>
            <a:off x="1076249" y="6283078"/>
            <a:ext cx="3137306" cy="75895"/>
          </a:xfrm>
          <a:prstGeom prst="rect">
            <a:avLst/>
          </a:prstGeom>
        </p:spPr>
      </p:pic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4"/>
          <a:srcRect l="-208" r="-208"/>
          <a:stretch/>
        </p:blipFill>
        <p:spPr>
          <a:xfrm>
            <a:off x="1076249" y="6258611"/>
            <a:ext cx="3137306" cy="75895"/>
          </a:xfrm>
          <a:prstGeom prst="rect">
            <a:avLst/>
          </a:prstGeom>
        </p:spPr>
      </p:pic>
      <p:sp>
        <p:nvSpPr>
          <p:cNvPr id="43" name="Shape 24"/>
          <p:cNvSpPr/>
          <p:nvPr/>
        </p:nvSpPr>
        <p:spPr>
          <a:xfrm>
            <a:off x="7823606" y="6105449"/>
            <a:ext cx="9144" cy="83850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25"/>
          <p:cNvSpPr txBox="1"/>
          <p:nvPr/>
        </p:nvSpPr>
        <p:spPr>
          <a:xfrm>
            <a:off x="4483520" y="5436188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Custos Operacionais</a:t>
            </a:r>
            <a:endParaRPr lang="en-US" sz="1000" dirty="0"/>
          </a:p>
        </p:txBody>
      </p:sp>
      <p:sp>
        <p:nvSpPr>
          <p:cNvPr id="45" name="Text 26"/>
          <p:cNvSpPr txBox="1"/>
          <p:nvPr/>
        </p:nvSpPr>
        <p:spPr>
          <a:xfrm>
            <a:off x="4368395" y="5778520"/>
            <a:ext cx="3333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R$ 23.180</a:t>
            </a:r>
            <a:endParaRPr lang="en-US" sz="27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3"/>
          <a:srcRect l="-206" r="-206"/>
          <a:stretch/>
        </p:blipFill>
        <p:spPr>
          <a:xfrm>
            <a:off x="4527194" y="6293136"/>
            <a:ext cx="3137306" cy="75895"/>
          </a:xfrm>
          <a:prstGeom prst="rect">
            <a:avLst/>
          </a:prstGeom>
        </p:spPr>
      </p:pic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5"/>
          <a:srcRect l="-213" r="-213"/>
          <a:stretch/>
        </p:blipFill>
        <p:spPr>
          <a:xfrm>
            <a:off x="4527194" y="6283078"/>
            <a:ext cx="1694383" cy="75895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7823606" y="5451742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Lucro Líquido Estimado</a:t>
            </a:r>
            <a:endParaRPr lang="en-US" sz="1000" dirty="0"/>
          </a:p>
        </p:txBody>
      </p:sp>
      <p:sp>
        <p:nvSpPr>
          <p:cNvPr id="49" name="Text 28"/>
          <p:cNvSpPr txBox="1"/>
          <p:nvPr/>
        </p:nvSpPr>
        <p:spPr>
          <a:xfrm>
            <a:off x="7875064" y="5743320"/>
            <a:ext cx="3333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R$ 20.030</a:t>
            </a:r>
            <a:endParaRPr lang="en-US" sz="3600" dirty="0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6"/>
          <a:srcRect l="-208" r="-208"/>
          <a:stretch/>
        </p:blipFill>
        <p:spPr>
          <a:xfrm>
            <a:off x="7991856" y="6262824"/>
            <a:ext cx="3137306" cy="75895"/>
          </a:xfrm>
          <a:prstGeom prst="rect">
            <a:avLst/>
          </a:prstGeom>
        </p:spPr>
      </p:pic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17"/>
          <a:srcRect l="-202" r="-202"/>
          <a:stretch/>
        </p:blipFill>
        <p:spPr>
          <a:xfrm>
            <a:off x="7939053" y="6281168"/>
            <a:ext cx="1442923" cy="75895"/>
          </a:xfrm>
          <a:prstGeom prst="rect">
            <a:avLst/>
          </a:prstGeom>
        </p:spPr>
      </p:pic>
      <p:sp>
        <p:nvSpPr>
          <p:cNvPr id="52" name="Text 29"/>
          <p:cNvSpPr txBox="1"/>
          <p:nvPr/>
        </p:nvSpPr>
        <p:spPr>
          <a:xfrm>
            <a:off x="9120225" y="6442961"/>
            <a:ext cx="2052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Margem ~46% </a:t>
            </a:r>
            <a:endParaRPr lang="en-US" sz="90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9025127" y="6497886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4698" y="19659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8743949" y="5850981"/>
            <a:ext cx="30476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529346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Viabilidade &amp;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</a:t>
            </a:r>
            <a:endParaRPr lang="en-US" sz="3600" dirty="0"/>
          </a:p>
        </p:txBody>
      </p:sp>
      <p:sp>
        <p:nvSpPr>
          <p:cNvPr id="11" name="Shape 5"/>
          <p:cNvSpPr/>
          <p:nvPr/>
        </p:nvSpPr>
        <p:spPr>
          <a:xfrm>
            <a:off x="609905" y="4048049"/>
            <a:ext cx="44101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 txBox="1"/>
          <p:nvPr/>
        </p:nvSpPr>
        <p:spPr>
          <a:xfrm>
            <a:off x="552754" y="2754173"/>
            <a:ext cx="4524451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Alocação de Recursos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495148" y="3110898"/>
            <a:ext cx="4410151" cy="8385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98601" y="3174796"/>
            <a:ext cx="245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 App (MVP)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3985412" y="3248310"/>
            <a:ext cx="882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R$ 80.000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206" r="-206"/>
          <a:stretch/>
        </p:blipFill>
        <p:spPr>
          <a:xfrm>
            <a:off x="781353" y="3575556"/>
            <a:ext cx="4067251" cy="7589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 l="-208" r="-208"/>
          <a:stretch/>
        </p:blipFill>
        <p:spPr>
          <a:xfrm>
            <a:off x="677570" y="3555897"/>
            <a:ext cx="3213202" cy="7589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51688" y="3753494"/>
            <a:ext cx="4181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do total</a:t>
            </a:r>
            <a:endParaRPr lang="en-US" sz="9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502889" y="4147056"/>
            <a:ext cx="4410151" cy="83850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749350" y="4228914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Equipamentos &amp; Estrutura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3952672" y="4239062"/>
            <a:ext cx="880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R$ 12.000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 l="-206" r="-206"/>
          <a:stretch/>
        </p:blipFill>
        <p:spPr>
          <a:xfrm>
            <a:off x="695060" y="4672450"/>
            <a:ext cx="4067251" cy="75895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rcRect l="-202" r="-202"/>
          <a:stretch/>
        </p:blipFill>
        <p:spPr>
          <a:xfrm>
            <a:off x="727260" y="4672450"/>
            <a:ext cx="609905" cy="75895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51688" y="4822764"/>
            <a:ext cx="4181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 do total</a:t>
            </a:r>
            <a:endParaRPr lang="en-US" sz="9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502888" y="5192348"/>
            <a:ext cx="4410151" cy="83850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753885" y="5244864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(Mensal Inicial)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3977756" y="5282354"/>
            <a:ext cx="927543" cy="27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R$ 28.000</a:t>
            </a:r>
            <a:endParaRPr lang="en-US" sz="12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7"/>
          <a:srcRect l="-206" r="-206"/>
          <a:stretch/>
        </p:blipFill>
        <p:spPr>
          <a:xfrm>
            <a:off x="749350" y="5689462"/>
            <a:ext cx="4067251" cy="7589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07099" y="5832262"/>
            <a:ext cx="4181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7% do total</a:t>
            </a:r>
            <a:endParaRPr lang="en-US" sz="900" dirty="0"/>
          </a:p>
        </p:txBody>
      </p:sp>
      <p:sp>
        <p:nvSpPr>
          <p:cNvPr id="31" name="Shape 17"/>
          <p:cNvSpPr/>
          <p:nvPr/>
        </p:nvSpPr>
        <p:spPr>
          <a:xfrm>
            <a:off x="5400446" y="1762049"/>
            <a:ext cx="9144" cy="534375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0"/>
          <a:srcRect l="-400" r="-400"/>
          <a:stretch/>
        </p:blipFill>
        <p:spPr>
          <a:xfrm>
            <a:off x="5638190" y="1781251"/>
            <a:ext cx="38405" cy="22860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5790895" y="1762049"/>
            <a:ext cx="30038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 Estratégicos (Metas)</a:t>
            </a:r>
            <a:endParaRPr lang="en-US" sz="1500" dirty="0"/>
          </a:p>
        </p:txBody>
      </p:sp>
      <p:sp>
        <p:nvSpPr>
          <p:cNvPr id="34" name="Shape 19"/>
          <p:cNvSpPr/>
          <p:nvPr/>
        </p:nvSpPr>
        <p:spPr>
          <a:xfrm>
            <a:off x="4257446" y="1000354"/>
            <a:ext cx="1524305" cy="1524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35" name="Shape 20"/>
          <p:cNvSpPr/>
          <p:nvPr/>
        </p:nvSpPr>
        <p:spPr>
          <a:xfrm>
            <a:off x="5638190" y="2257654"/>
            <a:ext cx="1143000" cy="1143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21"/>
          <p:cNvSpPr txBox="1"/>
          <p:nvPr/>
        </p:nvSpPr>
        <p:spPr>
          <a:xfrm>
            <a:off x="5839358" y="2533802"/>
            <a:ext cx="819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90+</a:t>
            </a:r>
            <a:endParaRPr lang="en-US" sz="3000" dirty="0"/>
          </a:p>
        </p:txBody>
      </p:sp>
      <p:sp>
        <p:nvSpPr>
          <p:cNvPr id="37" name="Text 22"/>
          <p:cNvSpPr txBox="1"/>
          <p:nvPr/>
        </p:nvSpPr>
        <p:spPr>
          <a:xfrm>
            <a:off x="5885078" y="2952598"/>
            <a:ext cx="734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Alvo</a:t>
            </a:r>
            <a:endParaRPr lang="en-US" sz="900" dirty="0"/>
          </a:p>
        </p:txBody>
      </p:sp>
      <p:sp>
        <p:nvSpPr>
          <p:cNvPr id="38" name="Shape 23"/>
          <p:cNvSpPr/>
          <p:nvPr/>
        </p:nvSpPr>
        <p:spPr>
          <a:xfrm>
            <a:off x="7239305" y="2257654"/>
            <a:ext cx="1143000" cy="1143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4"/>
          <p:cNvSpPr txBox="1"/>
          <p:nvPr/>
        </p:nvSpPr>
        <p:spPr>
          <a:xfrm>
            <a:off x="7393838" y="2533802"/>
            <a:ext cx="9144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endParaRPr lang="en-US" sz="3000" dirty="0"/>
          </a:p>
        </p:txBody>
      </p:sp>
      <p:sp>
        <p:nvSpPr>
          <p:cNvPr id="40" name="Text 25"/>
          <p:cNvSpPr txBox="1"/>
          <p:nvPr/>
        </p:nvSpPr>
        <p:spPr>
          <a:xfrm>
            <a:off x="7457846" y="2952598"/>
            <a:ext cx="7909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Retenção</a:t>
            </a:r>
            <a:endParaRPr lang="en-US" sz="900" dirty="0"/>
          </a:p>
        </p:txBody>
      </p:sp>
      <p:sp>
        <p:nvSpPr>
          <p:cNvPr id="41" name="Shape 26"/>
          <p:cNvSpPr/>
          <p:nvPr/>
        </p:nvSpPr>
        <p:spPr>
          <a:xfrm>
            <a:off x="8839505" y="2257654"/>
            <a:ext cx="1143000" cy="1143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27"/>
          <p:cNvSpPr txBox="1"/>
          <p:nvPr/>
        </p:nvSpPr>
        <p:spPr>
          <a:xfrm>
            <a:off x="9164117" y="2533802"/>
            <a:ext cx="571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</a:t>
            </a:r>
            <a:endParaRPr lang="en-US" sz="3000" dirty="0"/>
          </a:p>
        </p:txBody>
      </p:sp>
      <p:sp>
        <p:nvSpPr>
          <p:cNvPr id="43" name="Text 28"/>
          <p:cNvSpPr txBox="1"/>
          <p:nvPr/>
        </p:nvSpPr>
        <p:spPr>
          <a:xfrm>
            <a:off x="8995867" y="2952598"/>
            <a:ext cx="914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Pax/Evento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10439705" y="2257654"/>
            <a:ext cx="1143000" cy="1143000"/>
          </a:xfrm>
          <a:prstGeom prst="ellipse">
            <a:avLst/>
          </a:prstGeom>
          <a:solidFill>
            <a:srgbClr val="E8000E">
              <a:alpha val="10000"/>
            </a:srgbClr>
          </a:solidFill>
          <a:ln w="508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0"/>
          <p:cNvSpPr txBox="1"/>
          <p:nvPr/>
        </p:nvSpPr>
        <p:spPr>
          <a:xfrm>
            <a:off x="10895076" y="2447849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46" name="Text 31"/>
          <p:cNvSpPr txBox="1"/>
          <p:nvPr/>
        </p:nvSpPr>
        <p:spPr>
          <a:xfrm>
            <a:off x="10477195" y="2866644"/>
            <a:ext cx="1124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Meses Payback</a:t>
            </a:r>
            <a:endParaRPr lang="en-US" sz="9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1"/>
          <a:srcRect t="-7" b="-7"/>
          <a:stretch/>
        </p:blipFill>
        <p:spPr>
          <a:xfrm>
            <a:off x="5556406" y="3975116"/>
            <a:ext cx="2857500" cy="1848002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5585155" y="3821449"/>
            <a:ext cx="2838298" cy="38405"/>
          </a:xfrm>
          <a:prstGeom prst="rect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835880" y="4288106"/>
            <a:ext cx="152705" cy="15270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6163056" y="4248123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Eficiência Operacional</a:t>
            </a:r>
            <a:endParaRPr lang="en-US" sz="1200" dirty="0"/>
          </a:p>
        </p:txBody>
      </p:sp>
      <p:sp>
        <p:nvSpPr>
          <p:cNvPr id="51" name="Text 34"/>
          <p:cNvSpPr txBox="1"/>
          <p:nvPr/>
        </p:nvSpPr>
        <p:spPr>
          <a:xfrm>
            <a:off x="5731288" y="4713464"/>
            <a:ext cx="1411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 / Hora</a:t>
            </a:r>
            <a:endParaRPr lang="en-US" sz="1000" dirty="0"/>
          </a:p>
        </p:txBody>
      </p:sp>
      <p:sp>
        <p:nvSpPr>
          <p:cNvPr id="52" name="Text 35"/>
          <p:cNvSpPr txBox="1"/>
          <p:nvPr/>
        </p:nvSpPr>
        <p:spPr>
          <a:xfrm>
            <a:off x="7228045" y="4632111"/>
            <a:ext cx="11009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R$ 520,00</a:t>
            </a:r>
            <a:endParaRPr lang="en-US" sz="1500" dirty="0"/>
          </a:p>
        </p:txBody>
      </p:sp>
      <p:sp>
        <p:nvSpPr>
          <p:cNvPr id="53" name="Shape 36"/>
          <p:cNvSpPr/>
          <p:nvPr/>
        </p:nvSpPr>
        <p:spPr>
          <a:xfrm>
            <a:off x="5876849" y="6258154"/>
            <a:ext cx="23911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37"/>
          <p:cNvSpPr txBox="1"/>
          <p:nvPr/>
        </p:nvSpPr>
        <p:spPr>
          <a:xfrm>
            <a:off x="5754704" y="5111509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/ Hora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7361834" y="5043306"/>
            <a:ext cx="978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R$ 39,38</a:t>
            </a:r>
            <a:endParaRPr lang="en-US" sz="15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3"/>
          <a:srcRect t="-7" b="-7"/>
          <a:stretch/>
        </p:blipFill>
        <p:spPr>
          <a:xfrm>
            <a:off x="8826641" y="3984260"/>
            <a:ext cx="2857500" cy="1848002"/>
          </a:xfrm>
          <a:prstGeom prst="rect">
            <a:avLst/>
          </a:prstGeom>
        </p:spPr>
      </p:pic>
      <p:sp>
        <p:nvSpPr>
          <p:cNvPr id="57" name="Shape 39"/>
          <p:cNvSpPr/>
          <p:nvPr/>
        </p:nvSpPr>
        <p:spPr>
          <a:xfrm>
            <a:off x="8734348" y="3814052"/>
            <a:ext cx="2838298" cy="38405"/>
          </a:xfrm>
          <a:prstGeom prst="rect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63302" y="4048049"/>
            <a:ext cx="457200" cy="457200"/>
          </a:xfrm>
          <a:prstGeom prst="rect">
            <a:avLst/>
          </a:prstGeom>
        </p:spPr>
      </p:pic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058399" y="4196271"/>
            <a:ext cx="190195" cy="190195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9283617" y="4652790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6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de Equilíbrio</a:t>
            </a:r>
            <a:endParaRPr lang="en-US" sz="1000" dirty="0"/>
          </a:p>
        </p:txBody>
      </p:sp>
      <p:sp>
        <p:nvSpPr>
          <p:cNvPr id="61" name="Text 41"/>
          <p:cNvSpPr txBox="1"/>
          <p:nvPr/>
        </p:nvSpPr>
        <p:spPr>
          <a:xfrm>
            <a:off x="9789108" y="4882305"/>
            <a:ext cx="9189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Mês</a:t>
            </a:r>
            <a:endParaRPr lang="en-US" sz="2200" dirty="0"/>
          </a:p>
        </p:txBody>
      </p:sp>
      <p:sp>
        <p:nvSpPr>
          <p:cNvPr id="62" name="Text 42"/>
          <p:cNvSpPr txBox="1"/>
          <p:nvPr/>
        </p:nvSpPr>
        <p:spPr>
          <a:xfrm>
            <a:off x="9008345" y="5244864"/>
            <a:ext cx="2448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Operação sustentável desde o início</a:t>
            </a:r>
            <a:endParaRPr lang="en-US" sz="900" dirty="0"/>
          </a:p>
        </p:txBody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07084" y="1690483"/>
            <a:ext cx="190195" cy="190195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1218895" y="1698686"/>
            <a:ext cx="22585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 Necessário</a:t>
            </a:r>
            <a:endParaRPr lang="en-US" sz="1000" dirty="0"/>
          </a:p>
        </p:txBody>
      </p:sp>
      <p:sp>
        <p:nvSpPr>
          <p:cNvPr id="65" name="Text 44"/>
          <p:cNvSpPr txBox="1"/>
          <p:nvPr/>
        </p:nvSpPr>
        <p:spPr>
          <a:xfrm>
            <a:off x="914400" y="2333549"/>
            <a:ext cx="39913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R$ 82.000</a:t>
            </a:r>
            <a:endParaRPr lang="en-US" sz="4500" dirty="0"/>
          </a:p>
        </p:txBody>
      </p:sp>
      <p:sp>
        <p:nvSpPr>
          <p:cNvPr id="66" name="Text 45"/>
          <p:cNvSpPr txBox="1"/>
          <p:nvPr/>
        </p:nvSpPr>
        <p:spPr>
          <a:xfrm>
            <a:off x="895198" y="2382514"/>
            <a:ext cx="3954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semente para lançamento e tração inicial</a:t>
            </a:r>
            <a:endParaRPr lang="en-US" sz="1000" dirty="0"/>
          </a:p>
        </p:txBody>
      </p:sp>
      <p:pic>
        <p:nvPicPr>
          <p:cNvPr id="67" name="Image 9" descr="preencoded.png">
            <a:extLst>
              <a:ext uri="{FF2B5EF4-FFF2-40B4-BE49-F238E27FC236}">
                <a16:creationId xmlns:a16="http://schemas.microsoft.com/office/drawing/2014/main" id="{50923766-17D6-4A8B-91E1-5EE642A40A1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02" r="-202"/>
          <a:stretch/>
        </p:blipFill>
        <p:spPr>
          <a:xfrm>
            <a:off x="771509" y="5696254"/>
            <a:ext cx="609905" cy="75895"/>
          </a:xfrm>
          <a:prstGeom prst="rect">
            <a:avLst/>
          </a:prstGeom>
        </p:spPr>
      </p:pic>
      <p:pic>
        <p:nvPicPr>
          <p:cNvPr id="68" name="Image 9" descr="preencoded.png">
            <a:extLst>
              <a:ext uri="{FF2B5EF4-FFF2-40B4-BE49-F238E27FC236}">
                <a16:creationId xmlns:a16="http://schemas.microsoft.com/office/drawing/2014/main" id="{FDAE84FE-021A-05E2-E301-B651FCB4A13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02" r="-202"/>
          <a:stretch/>
        </p:blipFill>
        <p:spPr>
          <a:xfrm>
            <a:off x="1173410" y="5696254"/>
            <a:ext cx="60990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 txBox="1"/>
          <p:nvPr/>
        </p:nvSpPr>
        <p:spPr>
          <a:xfrm>
            <a:off x="609905" y="381305"/>
            <a:ext cx="3400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35926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MVP &amp;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Tração</a:t>
            </a:r>
            <a:endParaRPr lang="en-US" sz="3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446" b="-446"/>
          <a:stretch/>
        </p:blipFill>
        <p:spPr>
          <a:xfrm>
            <a:off x="609905" y="1876349"/>
            <a:ext cx="35662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59866" y="1762049"/>
            <a:ext cx="3286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MVP (Produto Mínimo Viável)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609905" y="2447849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na jornada essencial do usuário: descoberta, compra e experiência presencial sem fricção.</a:t>
            </a:r>
            <a:endParaRPr lang="en-US" sz="10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567842" y="2876702"/>
            <a:ext cx="3353105" cy="51819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2018995" y="3448202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2100377" y="3552444"/>
            <a:ext cx="219456" cy="1719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958291" y="3829507"/>
            <a:ext cx="2764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Inscrição &amp; Perfil Simplificado</a:t>
            </a:r>
            <a:endParaRPr lang="en-US" sz="1000" dirty="0"/>
          </a:p>
        </p:txBody>
      </p:sp>
      <p:sp>
        <p:nvSpPr>
          <p:cNvPr id="18" name="Text 9"/>
          <p:cNvSpPr txBox="1"/>
          <p:nvPr/>
        </p:nvSpPr>
        <p:spPr>
          <a:xfrm>
            <a:off x="958291" y="4058107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rápido focado em interesses reais.</a:t>
            </a:r>
            <a:endParaRPr lang="en-US" sz="9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609905" y="8620049"/>
            <a:ext cx="3353105" cy="518190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018995" y="8781898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2115007" y="8887054"/>
            <a:ext cx="190195" cy="171907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88213" y="9163202"/>
            <a:ext cx="3115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Integrado</a:t>
            </a:r>
            <a:endParaRPr lang="en-US" sz="1000" dirty="0"/>
          </a:p>
        </p:txBody>
      </p:sp>
      <p:sp>
        <p:nvSpPr>
          <p:cNvPr id="23" name="Text 12"/>
          <p:cNvSpPr txBox="1"/>
          <p:nvPr/>
        </p:nvSpPr>
        <p:spPr>
          <a:xfrm>
            <a:off x="788213" y="9391802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 seguro para compra de ingressos one-click.</a:t>
            </a:r>
            <a:endParaRPr lang="en-US" sz="9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609905" y="13953744"/>
            <a:ext cx="3353105" cy="5181905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2033626" y="14116507"/>
            <a:ext cx="381305" cy="381305"/>
          </a:xfrm>
          <a:prstGeom prst="ellipse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2128723" y="14220749"/>
            <a:ext cx="190195" cy="171907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800100" y="14496898"/>
            <a:ext cx="3115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"Encontros Surpresa"</a:t>
            </a: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800100" y="14725498"/>
            <a:ext cx="30769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Lógica de revelação gradual (Double Blind) do local e pessoa.</a:t>
            </a:r>
            <a:endParaRPr lang="en-US" sz="9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609905" y="19288354"/>
            <a:ext cx="3353105" cy="5181905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2018995" y="19450202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2133295" y="19554444"/>
            <a:ext cx="152705" cy="171907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771754" y="19831507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 &amp; Feedback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771754" y="20060107"/>
            <a:ext cx="3105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de presença via QR Code e NPS pós-evento.</a:t>
            </a:r>
            <a:endParaRPr lang="en-US" sz="9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2"/>
          <a:srcRect l="-450" r="-450"/>
          <a:stretch/>
        </p:blipFill>
        <p:spPr>
          <a:xfrm>
            <a:off x="8229600" y="1762049"/>
            <a:ext cx="38405" cy="304495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8382305" y="1781251"/>
            <a:ext cx="31784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Estratégia de Tração (GTM)</a:t>
            </a:r>
            <a:endParaRPr lang="en-US" sz="1500" dirty="0"/>
          </a:p>
        </p:txBody>
      </p:sp>
      <p:sp>
        <p:nvSpPr>
          <p:cNvPr id="36" name="Shape 20"/>
          <p:cNvSpPr/>
          <p:nvPr/>
        </p:nvSpPr>
        <p:spPr>
          <a:xfrm>
            <a:off x="8229600" y="2219249"/>
            <a:ext cx="3353105" cy="2838298"/>
          </a:xfrm>
          <a:prstGeom prst="roundRect">
            <a:avLst>
              <a:gd name="adj" fmla="val 25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3"/>
          <p:cNvSpPr txBox="1"/>
          <p:nvPr/>
        </p:nvSpPr>
        <p:spPr>
          <a:xfrm>
            <a:off x="8391449" y="7181698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 Alvo</a:t>
            </a:r>
            <a:endParaRPr lang="en-US" sz="900" dirty="0"/>
          </a:p>
        </p:txBody>
      </p:sp>
      <p:sp>
        <p:nvSpPr>
          <p:cNvPr id="40" name="Text 24"/>
          <p:cNvSpPr txBox="1"/>
          <p:nvPr/>
        </p:nvSpPr>
        <p:spPr>
          <a:xfrm>
            <a:off x="8391449" y="7334402"/>
            <a:ext cx="1248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Evento</a:t>
            </a:r>
            <a:endParaRPr lang="en-US" sz="10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10862158" y="7276795"/>
            <a:ext cx="190195" cy="152705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1129162" y="7200900"/>
            <a:ext cx="372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</a:t>
            </a:r>
            <a:endParaRPr lang="en-US" sz="1800" dirty="0"/>
          </a:p>
        </p:txBody>
      </p:sp>
      <p:sp>
        <p:nvSpPr>
          <p:cNvPr id="43" name="Shape 26"/>
          <p:cNvSpPr/>
          <p:nvPr/>
        </p:nvSpPr>
        <p:spPr>
          <a:xfrm>
            <a:off x="8229600" y="7800746"/>
            <a:ext cx="3353105" cy="666598"/>
          </a:xfrm>
          <a:prstGeom prst="roundRect">
            <a:avLst>
              <a:gd name="adj" fmla="val 4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27"/>
          <p:cNvSpPr txBox="1"/>
          <p:nvPr/>
        </p:nvSpPr>
        <p:spPr>
          <a:xfrm>
            <a:off x="8391449" y="7962595"/>
            <a:ext cx="9436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Localização</a:t>
            </a:r>
            <a:endParaRPr lang="en-US" sz="900" dirty="0"/>
          </a:p>
        </p:txBody>
      </p:sp>
      <p:sp>
        <p:nvSpPr>
          <p:cNvPr id="45" name="Text 28"/>
          <p:cNvSpPr txBox="1"/>
          <p:nvPr/>
        </p:nvSpPr>
        <p:spPr>
          <a:xfrm>
            <a:off x="8391449" y="8115300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Launch</a:t>
            </a:r>
            <a:endParaRPr lang="en-US" sz="10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9956902" y="8058607"/>
            <a:ext cx="95098" cy="15270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10127894" y="8001000"/>
            <a:ext cx="154076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São Paulo (SP)</a:t>
            </a:r>
            <a:endParaRPr lang="en-US" sz="13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5"/>
          <a:srcRect l="-9" r="-9"/>
          <a:stretch/>
        </p:blipFill>
        <p:spPr>
          <a:xfrm>
            <a:off x="4876495" y="1762049"/>
            <a:ext cx="2438705" cy="6705295"/>
          </a:xfrm>
          <a:prstGeom prst="rect">
            <a:avLst/>
          </a:prstGeom>
        </p:spPr>
      </p:pic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6"/>
          <a:srcRect t="-2" b="-2"/>
          <a:stretch/>
        </p:blipFill>
        <p:spPr>
          <a:xfrm>
            <a:off x="4933799" y="1848002"/>
            <a:ext cx="2286000" cy="6553505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5143500" y="2257654"/>
            <a:ext cx="304495" cy="30449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31"/>
          <p:cNvSpPr/>
          <p:nvPr/>
        </p:nvSpPr>
        <p:spPr>
          <a:xfrm>
            <a:off x="5639105" y="2333549"/>
            <a:ext cx="914400" cy="152705"/>
          </a:xfrm>
          <a:prstGeom prst="roundRect">
            <a:avLst>
              <a:gd name="adj" fmla="val 299401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32"/>
          <p:cNvSpPr/>
          <p:nvPr/>
        </p:nvSpPr>
        <p:spPr>
          <a:xfrm>
            <a:off x="6743700" y="2257654"/>
            <a:ext cx="304495" cy="30449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33"/>
          <p:cNvSpPr/>
          <p:nvPr/>
        </p:nvSpPr>
        <p:spPr>
          <a:xfrm>
            <a:off x="5143500" y="3467405"/>
            <a:ext cx="1904695" cy="1218895"/>
          </a:xfrm>
          <a:prstGeom prst="roundRect">
            <a:avLst>
              <a:gd name="adj" fmla="val 14066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34"/>
          <p:cNvSpPr/>
          <p:nvPr/>
        </p:nvSpPr>
        <p:spPr>
          <a:xfrm>
            <a:off x="5143500" y="3467405"/>
            <a:ext cx="1904695" cy="1218895"/>
          </a:xfrm>
          <a:prstGeom prst="roundRect">
            <a:avLst>
              <a:gd name="adj" fmla="val 14066"/>
            </a:avLst>
          </a:prstGeom>
          <a:solidFill>
            <a:srgbClr val="1F29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17"/>
          <a:srcRect l="-13" r="-13"/>
          <a:stretch/>
        </p:blipFill>
        <p:spPr>
          <a:xfrm>
            <a:off x="5934456" y="3866998"/>
            <a:ext cx="323698" cy="418795"/>
          </a:xfrm>
          <a:prstGeom prst="rect">
            <a:avLst/>
          </a:prstGeom>
        </p:spPr>
      </p:pic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6010351" y="3943807"/>
            <a:ext cx="171907" cy="228600"/>
          </a:xfrm>
          <a:prstGeom prst="rect">
            <a:avLst/>
          </a:prstGeom>
        </p:spPr>
      </p:pic>
      <p:sp>
        <p:nvSpPr>
          <p:cNvPr id="57" name="Shape 35"/>
          <p:cNvSpPr/>
          <p:nvPr/>
        </p:nvSpPr>
        <p:spPr>
          <a:xfrm>
            <a:off x="5143500" y="4800600"/>
            <a:ext cx="1429207" cy="152705"/>
          </a:xfrm>
          <a:prstGeom prst="roundRect">
            <a:avLst>
              <a:gd name="adj" fmla="val 299401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19"/>
          <a:srcRect l="-16" r="-16"/>
          <a:stretch/>
        </p:blipFill>
        <p:spPr>
          <a:xfrm>
            <a:off x="5143500" y="5067605"/>
            <a:ext cx="952805" cy="114300"/>
          </a:xfrm>
          <a:prstGeom prst="rect">
            <a:avLst/>
          </a:prstGeom>
        </p:spPr>
      </p:pic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20"/>
          <a:srcRect l="-1" r="-1"/>
          <a:stretch/>
        </p:blipFill>
        <p:spPr>
          <a:xfrm>
            <a:off x="5143500" y="6086246"/>
            <a:ext cx="1904695" cy="895198"/>
          </a:xfrm>
          <a:prstGeom prst="rect">
            <a:avLst/>
          </a:prstGeom>
        </p:spPr>
      </p:pic>
      <p:sp>
        <p:nvSpPr>
          <p:cNvPr id="60" name="Shape 36"/>
          <p:cNvSpPr/>
          <p:nvPr/>
        </p:nvSpPr>
        <p:spPr>
          <a:xfrm>
            <a:off x="5305349" y="6248095"/>
            <a:ext cx="533095" cy="114300"/>
          </a:xfrm>
          <a:prstGeom prst="roundRect">
            <a:avLst>
              <a:gd name="adj" fmla="val 533333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37"/>
          <p:cNvSpPr/>
          <p:nvPr/>
        </p:nvSpPr>
        <p:spPr>
          <a:xfrm>
            <a:off x="6505956" y="6248095"/>
            <a:ext cx="381305" cy="114300"/>
          </a:xfrm>
          <a:prstGeom prst="roundRect">
            <a:avLst>
              <a:gd name="adj" fmla="val 533333"/>
            </a:avLst>
          </a:prstGeom>
          <a:solidFill>
            <a:srgbClr val="E8000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38"/>
          <p:cNvSpPr/>
          <p:nvPr/>
        </p:nvSpPr>
        <p:spPr>
          <a:xfrm>
            <a:off x="5305349" y="6439205"/>
            <a:ext cx="1580998" cy="381305"/>
          </a:xfrm>
          <a:prstGeom prst="roundRect">
            <a:avLst>
              <a:gd name="adj" fmla="val 95923"/>
            </a:avLst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39"/>
          <p:cNvSpPr txBox="1"/>
          <p:nvPr/>
        </p:nvSpPr>
        <p:spPr>
          <a:xfrm>
            <a:off x="5273345" y="6439205"/>
            <a:ext cx="164500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Revelar Encontro</a:t>
            </a:r>
            <a:endParaRPr lang="en-US" sz="900" dirty="0"/>
          </a:p>
        </p:txBody>
      </p:sp>
      <p:sp>
        <p:nvSpPr>
          <p:cNvPr id="64" name="Shape 40"/>
          <p:cNvSpPr/>
          <p:nvPr/>
        </p:nvSpPr>
        <p:spPr>
          <a:xfrm>
            <a:off x="5143500" y="7886700"/>
            <a:ext cx="1904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41"/>
          <p:cNvSpPr/>
          <p:nvPr/>
        </p:nvSpPr>
        <p:spPr>
          <a:xfrm>
            <a:off x="5346497" y="797265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8000E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42"/>
          <p:cNvSpPr/>
          <p:nvPr/>
        </p:nvSpPr>
        <p:spPr>
          <a:xfrm>
            <a:off x="5982005" y="797265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43"/>
          <p:cNvSpPr/>
          <p:nvPr/>
        </p:nvSpPr>
        <p:spPr>
          <a:xfrm>
            <a:off x="6616598" y="797265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44"/>
          <p:cNvSpPr/>
          <p:nvPr/>
        </p:nvSpPr>
        <p:spPr>
          <a:xfrm>
            <a:off x="8429854" y="2495398"/>
            <a:ext cx="75895" cy="75895"/>
          </a:xfrm>
          <a:prstGeom prst="ellipse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45"/>
          <p:cNvSpPr txBox="1"/>
          <p:nvPr/>
        </p:nvSpPr>
        <p:spPr>
          <a:xfrm>
            <a:off x="8620049" y="2419502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Parcerias com Bares/Restaurantes</a:t>
            </a:r>
            <a:endParaRPr lang="en-US" sz="1000" dirty="0"/>
          </a:p>
        </p:txBody>
      </p:sp>
      <p:sp>
        <p:nvSpPr>
          <p:cNvPr id="70" name="Text 46"/>
          <p:cNvSpPr txBox="1"/>
          <p:nvPr/>
        </p:nvSpPr>
        <p:spPr>
          <a:xfrm>
            <a:off x="8620049" y="2609698"/>
            <a:ext cx="2839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Locais "Instagramáveis" em SP (Pinheiros, Vila Madalena) em troca de fluxo.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8429854" y="3105302"/>
            <a:ext cx="75895" cy="75895"/>
          </a:xfrm>
          <a:prstGeom prst="ellipse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48"/>
          <p:cNvSpPr txBox="1"/>
          <p:nvPr/>
        </p:nvSpPr>
        <p:spPr>
          <a:xfrm>
            <a:off x="8620049" y="3029407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Creators &amp; Micro-Influenciadores</a:t>
            </a:r>
            <a:endParaRPr lang="en-US" sz="1000" dirty="0"/>
          </a:p>
        </p:txBody>
      </p:sp>
      <p:sp>
        <p:nvSpPr>
          <p:cNvPr id="73" name="Text 49"/>
          <p:cNvSpPr txBox="1"/>
          <p:nvPr/>
        </p:nvSpPr>
        <p:spPr>
          <a:xfrm>
            <a:off x="8620049" y="3219602"/>
            <a:ext cx="2839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Convites VIP para creators de lifestyle/dating compartilharem a experiência real.</a:t>
            </a:r>
            <a:endParaRPr lang="en-US" sz="900" dirty="0"/>
          </a:p>
        </p:txBody>
      </p:sp>
      <p:sp>
        <p:nvSpPr>
          <p:cNvPr id="74" name="Shape 50"/>
          <p:cNvSpPr/>
          <p:nvPr/>
        </p:nvSpPr>
        <p:spPr>
          <a:xfrm>
            <a:off x="8429854" y="3715207"/>
            <a:ext cx="75895" cy="75895"/>
          </a:xfrm>
          <a:prstGeom prst="ellipse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51"/>
          <p:cNvSpPr txBox="1"/>
          <p:nvPr/>
        </p:nvSpPr>
        <p:spPr>
          <a:xfrm>
            <a:off x="8620049" y="3638398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 &amp; Assessoria</a:t>
            </a:r>
            <a:endParaRPr lang="en-US" sz="1000" dirty="0"/>
          </a:p>
        </p:txBody>
      </p:sp>
      <p:sp>
        <p:nvSpPr>
          <p:cNvPr id="76" name="Text 52"/>
          <p:cNvSpPr txBox="1"/>
          <p:nvPr/>
        </p:nvSpPr>
        <p:spPr>
          <a:xfrm>
            <a:off x="8620049" y="3829507"/>
            <a:ext cx="2839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Pautas sobre "Fadiga dos Apps" e "Solidão Urbana" em mídia local.</a:t>
            </a:r>
            <a:endParaRPr lang="en-US" sz="900" dirty="0"/>
          </a:p>
        </p:txBody>
      </p:sp>
      <p:sp>
        <p:nvSpPr>
          <p:cNvPr id="77" name="Shape 53"/>
          <p:cNvSpPr/>
          <p:nvPr/>
        </p:nvSpPr>
        <p:spPr>
          <a:xfrm>
            <a:off x="8429854" y="4324198"/>
            <a:ext cx="75895" cy="75895"/>
          </a:xfrm>
          <a:prstGeom prst="ellipse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54"/>
          <p:cNvSpPr txBox="1"/>
          <p:nvPr/>
        </p:nvSpPr>
        <p:spPr>
          <a:xfrm>
            <a:off x="8620049" y="4248302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Boca a Boca Incentivado</a:t>
            </a:r>
            <a:endParaRPr lang="en-US" sz="1000" dirty="0"/>
          </a:p>
        </p:txBody>
      </p:sp>
      <p:sp>
        <p:nvSpPr>
          <p:cNvPr id="79" name="Text 55"/>
          <p:cNvSpPr txBox="1"/>
          <p:nvPr/>
        </p:nvSpPr>
        <p:spPr>
          <a:xfrm>
            <a:off x="8620049" y="4438498"/>
            <a:ext cx="2839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 de referral: "Traga um amigo solteiro e ganhe 1 drink".</a:t>
            </a:r>
            <a:endParaRPr lang="en-US" sz="900" dirty="0"/>
          </a:p>
        </p:txBody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21"/>
          <a:srcRect l="-80" r="-80"/>
          <a:stretch/>
        </p:blipFill>
        <p:spPr>
          <a:xfrm>
            <a:off x="5639105" y="1837944"/>
            <a:ext cx="914400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394" b="-394"/>
          <a:stretch/>
        </p:blipFill>
        <p:spPr>
          <a:xfrm>
            <a:off x="9144000" y="6801307"/>
            <a:ext cx="243870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2191695" cy="1457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0" y="1448410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609905" y="647395"/>
            <a:ext cx="44430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Visão &amp; </a:t>
            </a:r>
            <a:r>
              <a:rPr lang="en-US" sz="36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3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884225" y="4138574"/>
            <a:ext cx="10424160" cy="3840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 t="-404" b="-404"/>
          <a:stretch/>
        </p:blipFill>
        <p:spPr>
          <a:xfrm>
            <a:off x="884225" y="4138574"/>
            <a:ext cx="2316175" cy="384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400507" y="2507285"/>
            <a:ext cx="2704795" cy="1171346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562356" y="2669134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Estratégico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562356" y="2859329"/>
            <a:ext cx="2477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Consolidação SP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562356" y="3202229"/>
            <a:ext cx="24579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total do Unit Economics e operação em escala na capital paulista.</a:t>
            </a:r>
            <a:endParaRPr lang="en-US" sz="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38351" y="3843223"/>
            <a:ext cx="629107" cy="629107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410005" y="3843223"/>
            <a:ext cx="685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400507" y="4636922"/>
            <a:ext cx="2704795" cy="1009498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562356" y="4798771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 &amp; Tech</a:t>
            </a:r>
            <a:endParaRPr lang="en-US" sz="9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2356" y="5042002"/>
            <a:ext cx="123444" cy="123444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685800" y="5027371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App V1</a:t>
            </a:r>
            <a:endParaRPr lang="en-US" sz="9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 t="-524" b="-524"/>
          <a:stretch/>
        </p:blipFill>
        <p:spPr>
          <a:xfrm>
            <a:off x="562356" y="5270602"/>
            <a:ext cx="152705" cy="123444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714146" y="5255971"/>
            <a:ext cx="1351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Matching Presencial</a:t>
            </a:r>
            <a:endParaRPr lang="en-US" sz="9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362602" y="3871570"/>
            <a:ext cx="571500" cy="5715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4334256" y="3871570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</a:t>
            </a:r>
            <a:endParaRPr lang="en-US" sz="1400" dirty="0"/>
          </a:p>
        </p:txBody>
      </p:sp>
      <p:sp>
        <p:nvSpPr>
          <p:cNvPr id="27" name="Shape 13"/>
          <p:cNvSpPr/>
          <p:nvPr/>
        </p:nvSpPr>
        <p:spPr>
          <a:xfrm>
            <a:off x="3295498" y="2507285"/>
            <a:ext cx="2704795" cy="1171346"/>
          </a:xfrm>
          <a:prstGeom prst="roundRect">
            <a:avLst>
              <a:gd name="adj" fmla="val 1523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14"/>
          <p:cNvSpPr txBox="1"/>
          <p:nvPr/>
        </p:nvSpPr>
        <p:spPr>
          <a:xfrm>
            <a:off x="3457346" y="2669134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Nacional</a:t>
            </a:r>
            <a:endParaRPr lang="en-US" sz="900" dirty="0"/>
          </a:p>
        </p:txBody>
      </p:sp>
      <p:sp>
        <p:nvSpPr>
          <p:cNvPr id="29" name="Text 15"/>
          <p:cNvSpPr txBox="1"/>
          <p:nvPr/>
        </p:nvSpPr>
        <p:spPr>
          <a:xfrm>
            <a:off x="3457346" y="2859329"/>
            <a:ext cx="2477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Capitais-Chave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3457346" y="3202229"/>
            <a:ext cx="24579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oficial no Rio de Janeiro (RJ), Belo Horizonte (BH) e Curitiba (PR).</a:t>
            </a:r>
            <a:endParaRPr lang="en-US" sz="900" dirty="0"/>
          </a:p>
        </p:txBody>
      </p:sp>
      <p:sp>
        <p:nvSpPr>
          <p:cNvPr id="31" name="Shape 17"/>
          <p:cNvSpPr/>
          <p:nvPr/>
        </p:nvSpPr>
        <p:spPr>
          <a:xfrm>
            <a:off x="3295498" y="4636922"/>
            <a:ext cx="2704795" cy="1009498"/>
          </a:xfrm>
          <a:prstGeom prst="roundRect">
            <a:avLst>
              <a:gd name="adj" fmla="val 2050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18"/>
          <p:cNvSpPr txBox="1"/>
          <p:nvPr/>
        </p:nvSpPr>
        <p:spPr>
          <a:xfrm>
            <a:off x="3457346" y="4798771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 &amp; Tech</a:t>
            </a:r>
            <a:endParaRPr lang="en-US" sz="9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4"/>
          <a:srcRect t="-524" b="-524"/>
          <a:stretch/>
        </p:blipFill>
        <p:spPr>
          <a:xfrm>
            <a:off x="3457346" y="5042002"/>
            <a:ext cx="152705" cy="123444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3610051" y="5027371"/>
            <a:ext cx="8503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Curadoria</a:t>
            </a:r>
            <a:endParaRPr lang="en-US" sz="9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5"/>
          <a:srcRect t="-2012" b="-2012"/>
          <a:stretch/>
        </p:blipFill>
        <p:spPr>
          <a:xfrm>
            <a:off x="3457346" y="5270602"/>
            <a:ext cx="133502" cy="123444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3590849" y="5255971"/>
            <a:ext cx="87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Memberships</a:t>
            </a:r>
            <a:endParaRPr lang="en-US" sz="9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258507" y="3871570"/>
            <a:ext cx="571500" cy="57150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7229246" y="3871570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2028</a:t>
            </a:r>
            <a:endParaRPr lang="en-US" sz="1400" dirty="0"/>
          </a:p>
        </p:txBody>
      </p:sp>
      <p:sp>
        <p:nvSpPr>
          <p:cNvPr id="39" name="Shape 22"/>
          <p:cNvSpPr/>
          <p:nvPr/>
        </p:nvSpPr>
        <p:spPr>
          <a:xfrm>
            <a:off x="6191402" y="2507285"/>
            <a:ext cx="2704795" cy="1171346"/>
          </a:xfrm>
          <a:prstGeom prst="roundRect">
            <a:avLst>
              <a:gd name="adj" fmla="val 1523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23"/>
          <p:cNvSpPr txBox="1"/>
          <p:nvPr/>
        </p:nvSpPr>
        <p:spPr>
          <a:xfrm>
            <a:off x="6353251" y="2669134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Regional</a:t>
            </a:r>
            <a:endParaRPr lang="en-US" sz="900" dirty="0"/>
          </a:p>
        </p:txBody>
      </p:sp>
      <p:sp>
        <p:nvSpPr>
          <p:cNvPr id="41" name="Text 24"/>
          <p:cNvSpPr txBox="1"/>
          <p:nvPr/>
        </p:nvSpPr>
        <p:spPr>
          <a:xfrm>
            <a:off x="6353251" y="2859329"/>
            <a:ext cx="2477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Franquias &amp; Licenças</a:t>
            </a:r>
            <a:endParaRPr lang="en-US" sz="1300" dirty="0"/>
          </a:p>
        </p:txBody>
      </p:sp>
      <p:sp>
        <p:nvSpPr>
          <p:cNvPr id="42" name="Text 25"/>
          <p:cNvSpPr txBox="1"/>
          <p:nvPr/>
        </p:nvSpPr>
        <p:spPr>
          <a:xfrm>
            <a:off x="6353251" y="3202229"/>
            <a:ext cx="24579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licenciamento para expansão rápida em cidades médias e interior.</a:t>
            </a:r>
            <a:endParaRPr lang="en-US" sz="900" dirty="0"/>
          </a:p>
        </p:txBody>
      </p:sp>
      <p:sp>
        <p:nvSpPr>
          <p:cNvPr id="43" name="Shape 26"/>
          <p:cNvSpPr/>
          <p:nvPr/>
        </p:nvSpPr>
        <p:spPr>
          <a:xfrm>
            <a:off x="6191402" y="4636922"/>
            <a:ext cx="2704795" cy="1009498"/>
          </a:xfrm>
          <a:prstGeom prst="roundRect">
            <a:avLst>
              <a:gd name="adj" fmla="val 2050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27"/>
          <p:cNvSpPr txBox="1"/>
          <p:nvPr/>
        </p:nvSpPr>
        <p:spPr>
          <a:xfrm>
            <a:off x="6353251" y="4798771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 &amp; Tech</a:t>
            </a:r>
            <a:endParaRPr lang="en-US" sz="900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6"/>
          <a:srcRect t="-524" b="-524"/>
          <a:stretch/>
        </p:blipFill>
        <p:spPr>
          <a:xfrm>
            <a:off x="6353251" y="5042002"/>
            <a:ext cx="152705" cy="123444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6505956" y="5027371"/>
            <a:ext cx="12783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Patrocínios Marcas</a:t>
            </a:r>
            <a:endParaRPr lang="en-US" sz="9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7"/>
          <a:srcRect t="-2012" b="-2012"/>
          <a:stretch/>
        </p:blipFill>
        <p:spPr>
          <a:xfrm>
            <a:off x="6353251" y="5270602"/>
            <a:ext cx="133502" cy="123444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6486754" y="5255971"/>
            <a:ext cx="9948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Exp. Temáticas</a:t>
            </a:r>
            <a:endParaRPr lang="en-US" sz="9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153498" y="3871570"/>
            <a:ext cx="571500" cy="571500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10125151" y="3871570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29+</a:t>
            </a:r>
            <a:endParaRPr lang="en-US" sz="1400" dirty="0"/>
          </a:p>
        </p:txBody>
      </p:sp>
      <p:sp>
        <p:nvSpPr>
          <p:cNvPr id="51" name="Shape 31"/>
          <p:cNvSpPr/>
          <p:nvPr/>
        </p:nvSpPr>
        <p:spPr>
          <a:xfrm>
            <a:off x="9087307" y="2507285"/>
            <a:ext cx="2704795" cy="1171346"/>
          </a:xfrm>
          <a:prstGeom prst="roundRect">
            <a:avLst>
              <a:gd name="adj" fmla="val 1523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32"/>
          <p:cNvSpPr txBox="1"/>
          <p:nvPr/>
        </p:nvSpPr>
        <p:spPr>
          <a:xfrm>
            <a:off x="9249156" y="2669134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Global</a:t>
            </a:r>
            <a:endParaRPr lang="en-US" sz="900" dirty="0"/>
          </a:p>
        </p:txBody>
      </p:sp>
      <p:sp>
        <p:nvSpPr>
          <p:cNvPr id="53" name="Text 33"/>
          <p:cNvSpPr txBox="1"/>
          <p:nvPr/>
        </p:nvSpPr>
        <p:spPr>
          <a:xfrm>
            <a:off x="9249156" y="2859329"/>
            <a:ext cx="2477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Internacionalização</a:t>
            </a:r>
            <a:endParaRPr lang="en-US" sz="1300" dirty="0"/>
          </a:p>
        </p:txBody>
      </p:sp>
      <p:sp>
        <p:nvSpPr>
          <p:cNvPr id="54" name="Text 34"/>
          <p:cNvSpPr txBox="1"/>
          <p:nvPr/>
        </p:nvSpPr>
        <p:spPr>
          <a:xfrm>
            <a:off x="9249156" y="3202229"/>
            <a:ext cx="24579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LatAm (Buenos Aires, CDMX) e entrada na Europa (Lisboa/Madrid).</a:t>
            </a:r>
            <a:endParaRPr lang="en-US" sz="900" dirty="0"/>
          </a:p>
        </p:txBody>
      </p:sp>
      <p:sp>
        <p:nvSpPr>
          <p:cNvPr id="55" name="Shape 35"/>
          <p:cNvSpPr/>
          <p:nvPr/>
        </p:nvSpPr>
        <p:spPr>
          <a:xfrm>
            <a:off x="9087307" y="4636922"/>
            <a:ext cx="2704795" cy="1009498"/>
          </a:xfrm>
          <a:prstGeom prst="roundRect">
            <a:avLst>
              <a:gd name="adj" fmla="val 20509"/>
            </a:avLst>
          </a:prstGeom>
          <a:solidFill>
            <a:srgbClr val="F9FAFB">
              <a:alpha val="80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36"/>
          <p:cNvSpPr txBox="1"/>
          <p:nvPr/>
        </p:nvSpPr>
        <p:spPr>
          <a:xfrm>
            <a:off x="9249156" y="4798771"/>
            <a:ext cx="2477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 &amp; Tech</a:t>
            </a:r>
            <a:endParaRPr lang="en-US" sz="900" dirty="0"/>
          </a:p>
        </p:txBody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8">
            <a:alphaModFix amt="80000"/>
          </a:blip>
          <a:srcRect/>
          <a:stretch/>
        </p:blipFill>
        <p:spPr>
          <a:xfrm>
            <a:off x="9249156" y="5042002"/>
            <a:ext cx="123444" cy="123444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9372600" y="5027371"/>
            <a:ext cx="11384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Multi-Idioma</a:t>
            </a:r>
            <a:endParaRPr lang="en-US" sz="900" dirty="0"/>
          </a:p>
        </p:txBody>
      </p:sp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19">
            <a:alphaModFix amt="80000"/>
          </a:blip>
          <a:srcRect t="-524" b="-524"/>
          <a:stretch/>
        </p:blipFill>
        <p:spPr>
          <a:xfrm>
            <a:off x="9249156" y="5270602"/>
            <a:ext cx="152705" cy="123444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9400946" y="5255971"/>
            <a:ext cx="12801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Global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00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382719" y="6484925"/>
            <a:ext cx="4058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 2026 MOV Speed-Dating. Todos os direitos reservados.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-952805" y="-952805"/>
            <a:ext cx="5715000" cy="5715000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858707" y="3524098"/>
            <a:ext cx="3810305" cy="3810305"/>
          </a:xfrm>
          <a:prstGeom prst="ellipse">
            <a:avLst/>
          </a:prstGeom>
          <a:noFill/>
          <a:ln w="254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2637130" y="2018995"/>
            <a:ext cx="6924751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próximo grande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amor começa aqui. </a:t>
            </a:r>
            <a:endParaRPr lang="en-US" sz="5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4508906" y="4625035"/>
            <a:ext cx="3174797" cy="6172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20386" y="4796942"/>
            <a:ext cx="23582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44" dirty="0">
                <a:solidFill>
                  <a:srgbClr val="E80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Investir na MOV 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7045452" y="4839005"/>
            <a:ext cx="181051" cy="18105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654857" y="3756355"/>
            <a:ext cx="48865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108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Vamos construir isso juntos.</a:t>
            </a:r>
            <a:endParaRPr lang="en-US" sz="2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2965399" y="5887822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170340" y="5871362"/>
            <a:ext cx="2108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Moreira.wesleyluiz@mov.com.br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5487314" y="5887822"/>
            <a:ext cx="133502" cy="1335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506517" y="5852160"/>
            <a:ext cx="14401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+55 11 98981-4026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7135063" y="5887822"/>
            <a:ext cx="133502" cy="13350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230161" y="5852160"/>
            <a:ext cx="1733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www.movdating.com.br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1181</Words>
  <Application>Microsoft Office PowerPoint</Application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Wesley Moreira</cp:lastModifiedBy>
  <cp:revision>3</cp:revision>
  <dcterms:created xsi:type="dcterms:W3CDTF">2026-03-02T15:55:25Z</dcterms:created>
  <dcterms:modified xsi:type="dcterms:W3CDTF">2026-03-12T01:28:43Z</dcterms:modified>
</cp:coreProperties>
</file>