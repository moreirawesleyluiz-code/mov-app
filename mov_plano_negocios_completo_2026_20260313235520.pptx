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61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0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95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71500" y="1381658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47247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1774"/>
            <a:ext cx="52962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geral da oportunidade, estratégia e potencial financeiro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99648" y="576072"/>
            <a:ext cx="800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08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571500" y="1668780"/>
            <a:ext cx="6400800" cy="18955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7649" y="1906524"/>
            <a:ext cx="60012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7649" y="2253996"/>
            <a:ext cx="5962802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MOV cria um ecossistema único unindo a </a:t>
            </a: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autenticidade dos encontros presenciais</a:t>
            </a:r>
            <a:r>
              <a:rPr lang="en-US" sz="13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conveniência da tecnologia via App e a profundidade do </a:t>
            </a: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autoconhecimento</a:t>
            </a:r>
            <a:r>
              <a:rPr lang="en-US" sz="13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(Fase 3). Resolvemos a fadiga digital e a solidão urbana com método, segurança e curadoria. 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1500" y="3802990"/>
            <a:ext cx="6400800" cy="1399946"/>
          </a:xfrm>
          <a:prstGeom prst="roundRect">
            <a:avLst>
              <a:gd name="adj" fmla="val 1421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19302" y="4050792"/>
            <a:ext cx="1895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Buscado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19302" y="4292194"/>
            <a:ext cx="1963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R$ 200.000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19302" y="4768596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cotas de R$ 10.000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3860597" y="4262933"/>
            <a:ext cx="9144" cy="4764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96866" y="4050792"/>
            <a:ext cx="17519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Retorno ao Investidor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096866" y="4292194"/>
            <a:ext cx="1705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D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 a.a.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5096866" y="4768596"/>
            <a:ext cx="18946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Contrato de Mútuo Híbrido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5437022"/>
            <a:ext cx="3105302" cy="2648102"/>
          </a:xfrm>
          <a:prstGeom prst="roundRect">
            <a:avLst>
              <a:gd name="adj" fmla="val 2981"/>
            </a:avLst>
          </a:prstGeom>
          <a:solidFill>
            <a:srgbClr val="38B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45800" r="-545800"/>
          <a:stretch/>
        </p:blipFill>
        <p:spPr>
          <a:xfrm>
            <a:off x="761695" y="6262726"/>
            <a:ext cx="2723998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61695" y="6586423"/>
            <a:ext cx="28337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R$ 3,82M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761695" y="7045452"/>
            <a:ext cx="28337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Receita Projetada (Ano 3)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866998" y="5437022"/>
            <a:ext cx="3105302" cy="2648102"/>
          </a:xfrm>
          <a:prstGeom prst="roundRect">
            <a:avLst>
              <a:gd name="adj" fmla="val 2981"/>
            </a:avLst>
          </a:prstGeom>
          <a:solidFill>
            <a:srgbClr val="A538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744400" r="-744400"/>
          <a:stretch/>
        </p:blipFill>
        <p:spPr>
          <a:xfrm>
            <a:off x="4058107" y="6262726"/>
            <a:ext cx="2723998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058107" y="6586423"/>
            <a:ext cx="28337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42% → 78%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4058107" y="7045452"/>
            <a:ext cx="28337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(Escala)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53605" y="1668780"/>
            <a:ext cx="4267505" cy="6409944"/>
          </a:xfrm>
          <a:prstGeom prst="roundRect">
            <a:avLst>
              <a:gd name="adj" fmla="val 1531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7648956" y="2317090"/>
            <a:ext cx="3676802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48956" y="2004365"/>
            <a:ext cx="171907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915046" y="1964131"/>
            <a:ext cx="2400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 de Mercado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619695" y="2415845"/>
            <a:ext cx="629107" cy="571500"/>
          </a:xfrm>
          <a:prstGeom prst="rect">
            <a:avLst/>
          </a:prstGeom>
          <a:noFill/>
          <a:ln w="38100">
            <a:solidFill>
              <a:srgbClr val="38B6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363102" y="2470709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R$ 380 Milhões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8363102" y="2737714"/>
            <a:ext cx="22219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 (Mercado Endereçável SP)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619695" y="3177540"/>
            <a:ext cx="629107" cy="571500"/>
          </a:xfrm>
          <a:prstGeom prst="rect">
            <a:avLst/>
          </a:prstGeom>
          <a:noFill/>
          <a:ln w="38100">
            <a:solidFill>
              <a:srgbClr val="6666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363102" y="3232404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R$ 2,4 Bilhões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8363102" y="3499409"/>
            <a:ext cx="12582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 (Total Brasil)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648956" y="4483303"/>
            <a:ext cx="3676802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7648956" y="4170578"/>
            <a:ext cx="190195" cy="17190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934249" y="4130345"/>
            <a:ext cx="2343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Diferenciais Competitivos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7648956" y="4582058"/>
            <a:ext cx="3676802" cy="533095"/>
          </a:xfrm>
          <a:prstGeom prst="roundRect">
            <a:avLst>
              <a:gd name="adj" fmla="val 49008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3"/>
          <p:cNvSpPr/>
          <p:nvPr/>
        </p:nvSpPr>
        <p:spPr>
          <a:xfrm>
            <a:off x="7791602" y="469635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77556" y="4781398"/>
            <a:ext cx="133502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210398" y="4745736"/>
            <a:ext cx="24825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Curadoria Rigorosa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7648956" y="5229454"/>
            <a:ext cx="3676802" cy="533095"/>
          </a:xfrm>
          <a:prstGeom prst="roundRect">
            <a:avLst>
              <a:gd name="adj" fmla="val 49008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36"/>
          <p:cNvSpPr/>
          <p:nvPr/>
        </p:nvSpPr>
        <p:spPr>
          <a:xfrm>
            <a:off x="7791602" y="53437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7891272" y="5429707"/>
            <a:ext cx="105156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210398" y="5393131"/>
            <a:ext cx="29471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Proprietário (Encontros Surpresa)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7648956" y="5876849"/>
            <a:ext cx="3676802" cy="533095"/>
          </a:xfrm>
          <a:prstGeom prst="roundRect">
            <a:avLst>
              <a:gd name="adj" fmla="val 49008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39"/>
          <p:cNvSpPr/>
          <p:nvPr/>
        </p:nvSpPr>
        <p:spPr>
          <a:xfrm>
            <a:off x="7791602" y="5991149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7858354" y="6077102"/>
            <a:ext cx="171907" cy="13350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8210398" y="6040526"/>
            <a:ext cx="24487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Rede de Mètres (15% comissão)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7648956" y="6525158"/>
            <a:ext cx="3676802" cy="533095"/>
          </a:xfrm>
          <a:prstGeom prst="roundRect">
            <a:avLst>
              <a:gd name="adj" fmla="val 49008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42"/>
          <p:cNvSpPr/>
          <p:nvPr/>
        </p:nvSpPr>
        <p:spPr>
          <a:xfrm>
            <a:off x="7791602" y="663945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77556" y="6724498"/>
            <a:ext cx="133502" cy="133502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8210398" y="6688836"/>
            <a:ext cx="255849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Baseado em Neurociência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7648956" y="7248449"/>
            <a:ext cx="3676802" cy="533095"/>
          </a:xfrm>
          <a:prstGeom prst="roundRect">
            <a:avLst>
              <a:gd name="adj" fmla="val 49008"/>
            </a:avLst>
          </a:prstGeom>
          <a:solidFill>
            <a:srgbClr val="4ADE80">
              <a:alpha val="10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12810" y="7424928"/>
            <a:ext cx="181051" cy="181051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589874" y="7248449"/>
            <a:ext cx="21534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 de Equilíbrio: Mês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F385C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38B6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225856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931774"/>
            <a:ext cx="25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do Plano de Negócios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19434" y="817474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90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" y="1837030"/>
            <a:ext cx="3524098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71500" y="1598371"/>
            <a:ext cx="36009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Geral &amp; Estratégia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" y="20007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71500" y="20007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43407" y="21643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8700" y="21150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95451" y="2190902"/>
            <a:ext cx="171907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76756" y="21579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1500" y="264810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71500" y="264810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743407" y="281178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28700" y="27624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1123798" y="2838298"/>
            <a:ext cx="114300" cy="15270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76756" y="280629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Sumário Executivo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71500" y="3295498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571500" y="3295498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 txBox="1"/>
          <p:nvPr/>
        </p:nvSpPr>
        <p:spPr>
          <a:xfrm>
            <a:off x="743407" y="345917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028700" y="34097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04595" y="3486607"/>
            <a:ext cx="152705" cy="1527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76756" y="3453689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Índice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71500" y="39438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6"/>
          <p:cNvSpPr/>
          <p:nvPr/>
        </p:nvSpPr>
        <p:spPr>
          <a:xfrm>
            <a:off x="571500" y="39438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 txBox="1"/>
          <p:nvPr/>
        </p:nvSpPr>
        <p:spPr>
          <a:xfrm>
            <a:off x="743407" y="41074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028700" y="40581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04595" y="4134002"/>
            <a:ext cx="152705" cy="15270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476756" y="41010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Sobre a MOV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71500" y="459120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1"/>
          <p:cNvSpPr/>
          <p:nvPr/>
        </p:nvSpPr>
        <p:spPr>
          <a:xfrm>
            <a:off x="571500" y="459120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2"/>
          <p:cNvSpPr txBox="1"/>
          <p:nvPr/>
        </p:nvSpPr>
        <p:spPr>
          <a:xfrm>
            <a:off x="743407" y="475488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1028700" y="47055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4595" y="4781398"/>
            <a:ext cx="152705" cy="152705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476756" y="474939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71500" y="5238598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571500" y="5238598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7"/>
          <p:cNvSpPr txBox="1"/>
          <p:nvPr/>
        </p:nvSpPr>
        <p:spPr>
          <a:xfrm>
            <a:off x="743407" y="540227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1028700" y="53528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1123798" y="5429707"/>
            <a:ext cx="114300" cy="15270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476756" y="5396789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Solução MOV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334256" y="1837030"/>
            <a:ext cx="3524098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1"/>
          <p:cNvSpPr txBox="1"/>
          <p:nvPr/>
        </p:nvSpPr>
        <p:spPr>
          <a:xfrm>
            <a:off x="4334256" y="1598371"/>
            <a:ext cx="36009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&amp; Produtos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4334256" y="20007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3"/>
          <p:cNvSpPr/>
          <p:nvPr/>
        </p:nvSpPr>
        <p:spPr>
          <a:xfrm>
            <a:off x="4334256" y="20007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4"/>
          <p:cNvSpPr txBox="1"/>
          <p:nvPr/>
        </p:nvSpPr>
        <p:spPr>
          <a:xfrm>
            <a:off x="4505249" y="21643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791456" y="21150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4858207" y="2190902"/>
            <a:ext cx="171907" cy="152705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5238598" y="21579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Mercado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4334256" y="264810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48"/>
          <p:cNvSpPr/>
          <p:nvPr/>
        </p:nvSpPr>
        <p:spPr>
          <a:xfrm>
            <a:off x="4334256" y="264810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49"/>
          <p:cNvSpPr txBox="1"/>
          <p:nvPr/>
        </p:nvSpPr>
        <p:spPr>
          <a:xfrm>
            <a:off x="4505249" y="281178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4791456" y="27624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4848149" y="2838298"/>
            <a:ext cx="190195" cy="152705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5238598" y="280629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</a:t>
            </a:r>
            <a:endParaRPr lang="en-US" sz="1100" dirty="0"/>
          </a:p>
        </p:txBody>
      </p:sp>
      <p:sp>
        <p:nvSpPr>
          <p:cNvPr id="62" name="Shape 52"/>
          <p:cNvSpPr/>
          <p:nvPr/>
        </p:nvSpPr>
        <p:spPr>
          <a:xfrm>
            <a:off x="4334256" y="3295498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53"/>
          <p:cNvSpPr/>
          <p:nvPr/>
        </p:nvSpPr>
        <p:spPr>
          <a:xfrm>
            <a:off x="4334256" y="3295498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54"/>
          <p:cNvSpPr txBox="1"/>
          <p:nvPr/>
        </p:nvSpPr>
        <p:spPr>
          <a:xfrm>
            <a:off x="4505249" y="345917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4791456" y="34097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67351" y="3486607"/>
            <a:ext cx="152705" cy="152705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5238598" y="3453689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Portfólio Fase 1 (Eventos)</a:t>
            </a:r>
            <a:endParaRPr lang="en-US" sz="1100" dirty="0"/>
          </a:p>
        </p:txBody>
      </p:sp>
      <p:sp>
        <p:nvSpPr>
          <p:cNvPr id="68" name="Shape 57"/>
          <p:cNvSpPr/>
          <p:nvPr/>
        </p:nvSpPr>
        <p:spPr>
          <a:xfrm>
            <a:off x="4334256" y="39438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Shape 58"/>
          <p:cNvSpPr/>
          <p:nvPr/>
        </p:nvSpPr>
        <p:spPr>
          <a:xfrm>
            <a:off x="4334256" y="39438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59"/>
          <p:cNvSpPr txBox="1"/>
          <p:nvPr/>
        </p:nvSpPr>
        <p:spPr>
          <a:xfrm>
            <a:off x="4505249" y="41074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71" name="Shape 60"/>
          <p:cNvSpPr/>
          <p:nvPr/>
        </p:nvSpPr>
        <p:spPr>
          <a:xfrm>
            <a:off x="4791456" y="40581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2" name="Image 9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4886554" y="4134002"/>
            <a:ext cx="114300" cy="152705"/>
          </a:xfrm>
          <a:prstGeom prst="rect">
            <a:avLst/>
          </a:prstGeom>
        </p:spPr>
      </p:pic>
      <p:sp>
        <p:nvSpPr>
          <p:cNvPr id="73" name="Text 61"/>
          <p:cNvSpPr txBox="1"/>
          <p:nvPr/>
        </p:nvSpPr>
        <p:spPr>
          <a:xfrm>
            <a:off x="5238598" y="41010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Portfólio Fase 2 (App)</a:t>
            </a:r>
            <a:endParaRPr lang="en-US" sz="1100" dirty="0"/>
          </a:p>
        </p:txBody>
      </p:sp>
      <p:sp>
        <p:nvSpPr>
          <p:cNvPr id="74" name="Shape 62"/>
          <p:cNvSpPr/>
          <p:nvPr/>
        </p:nvSpPr>
        <p:spPr>
          <a:xfrm>
            <a:off x="4334256" y="4591202"/>
            <a:ext cx="3524098" cy="666598"/>
          </a:xfrm>
          <a:prstGeom prst="roundRect">
            <a:avLst>
              <a:gd name="adj" fmla="val 3135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63"/>
          <p:cNvSpPr/>
          <p:nvPr/>
        </p:nvSpPr>
        <p:spPr>
          <a:xfrm>
            <a:off x="4334256" y="4591202"/>
            <a:ext cx="28346" cy="666598"/>
          </a:xfrm>
          <a:prstGeom prst="roundRect">
            <a:avLst>
              <a:gd name="adj" fmla="val 737338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64"/>
          <p:cNvSpPr txBox="1"/>
          <p:nvPr/>
        </p:nvSpPr>
        <p:spPr>
          <a:xfrm>
            <a:off x="4505249" y="4819802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77" name="Shape 65"/>
          <p:cNvSpPr/>
          <p:nvPr/>
        </p:nvSpPr>
        <p:spPr>
          <a:xfrm>
            <a:off x="4791456" y="477042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8" name="Image 10" descr="preencoded.png"/>
          <p:cNvPicPr>
            <a:picLocks noChangeAspect="1"/>
          </p:cNvPicPr>
          <p:nvPr/>
        </p:nvPicPr>
        <p:blipFill>
          <a:blip r:embed="rId13"/>
          <a:srcRect l="-33" r="-33"/>
          <a:stretch/>
        </p:blipFill>
        <p:spPr>
          <a:xfrm>
            <a:off x="4858207" y="4846320"/>
            <a:ext cx="171907" cy="152705"/>
          </a:xfrm>
          <a:prstGeom prst="rect">
            <a:avLst/>
          </a:prstGeom>
        </p:spPr>
      </p:pic>
      <p:sp>
        <p:nvSpPr>
          <p:cNvPr id="79" name="Text 66"/>
          <p:cNvSpPr txBox="1"/>
          <p:nvPr/>
        </p:nvSpPr>
        <p:spPr>
          <a:xfrm>
            <a:off x="5238598" y="4705502"/>
            <a:ext cx="25530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Portfólio Fase 3 (Autoconhecimento)</a:t>
            </a:r>
            <a:endParaRPr lang="en-US" sz="1100" dirty="0"/>
          </a:p>
        </p:txBody>
      </p:sp>
      <p:sp>
        <p:nvSpPr>
          <p:cNvPr id="80" name="Shape 67"/>
          <p:cNvSpPr/>
          <p:nvPr/>
        </p:nvSpPr>
        <p:spPr>
          <a:xfrm>
            <a:off x="4334256" y="536844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68"/>
          <p:cNvSpPr/>
          <p:nvPr/>
        </p:nvSpPr>
        <p:spPr>
          <a:xfrm>
            <a:off x="4334256" y="536844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69"/>
          <p:cNvSpPr txBox="1"/>
          <p:nvPr/>
        </p:nvSpPr>
        <p:spPr>
          <a:xfrm>
            <a:off x="4505249" y="553212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83" name="Shape 70"/>
          <p:cNvSpPr/>
          <p:nvPr/>
        </p:nvSpPr>
        <p:spPr>
          <a:xfrm>
            <a:off x="4791456" y="548274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67351" y="5558638"/>
            <a:ext cx="152705" cy="152705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5238598" y="552663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Jornada do Cliente</a:t>
            </a:r>
            <a:endParaRPr lang="en-US" sz="1100" dirty="0"/>
          </a:p>
        </p:txBody>
      </p:sp>
      <p:sp>
        <p:nvSpPr>
          <p:cNvPr id="86" name="Shape 72"/>
          <p:cNvSpPr/>
          <p:nvPr/>
        </p:nvSpPr>
        <p:spPr>
          <a:xfrm>
            <a:off x="8096098" y="1837030"/>
            <a:ext cx="3524098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Text 73"/>
          <p:cNvSpPr txBox="1"/>
          <p:nvPr/>
        </p:nvSpPr>
        <p:spPr>
          <a:xfrm>
            <a:off x="8096098" y="1598371"/>
            <a:ext cx="36009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 &amp; Finanças</a:t>
            </a:r>
            <a:endParaRPr lang="en-US" sz="900" dirty="0"/>
          </a:p>
        </p:txBody>
      </p:sp>
      <p:sp>
        <p:nvSpPr>
          <p:cNvPr id="88" name="Shape 74"/>
          <p:cNvSpPr/>
          <p:nvPr/>
        </p:nvSpPr>
        <p:spPr>
          <a:xfrm>
            <a:off x="8096098" y="20007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75"/>
          <p:cNvSpPr/>
          <p:nvPr/>
        </p:nvSpPr>
        <p:spPr>
          <a:xfrm>
            <a:off x="8096098" y="20007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76"/>
          <p:cNvSpPr txBox="1"/>
          <p:nvPr/>
        </p:nvSpPr>
        <p:spPr>
          <a:xfrm>
            <a:off x="8268005" y="21643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sp>
        <p:nvSpPr>
          <p:cNvPr id="91" name="Shape 77"/>
          <p:cNvSpPr/>
          <p:nvPr/>
        </p:nvSpPr>
        <p:spPr>
          <a:xfrm>
            <a:off x="8553298" y="21150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30107" y="2190902"/>
            <a:ext cx="152705" cy="152705"/>
          </a:xfrm>
          <a:prstGeom prst="rect">
            <a:avLst/>
          </a:prstGeom>
        </p:spPr>
      </p:pic>
      <p:sp>
        <p:nvSpPr>
          <p:cNvPr id="93" name="Text 78"/>
          <p:cNvSpPr txBox="1"/>
          <p:nvPr/>
        </p:nvSpPr>
        <p:spPr>
          <a:xfrm>
            <a:off x="9001354" y="21579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94" name="Shape 79"/>
          <p:cNvSpPr/>
          <p:nvPr/>
        </p:nvSpPr>
        <p:spPr>
          <a:xfrm>
            <a:off x="8096098" y="264810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Shape 80"/>
          <p:cNvSpPr/>
          <p:nvPr/>
        </p:nvSpPr>
        <p:spPr>
          <a:xfrm>
            <a:off x="8096098" y="264810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Text 81"/>
          <p:cNvSpPr txBox="1"/>
          <p:nvPr/>
        </p:nvSpPr>
        <p:spPr>
          <a:xfrm>
            <a:off x="8268005" y="281178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sp>
        <p:nvSpPr>
          <p:cNvPr id="97" name="Shape 82"/>
          <p:cNvSpPr/>
          <p:nvPr/>
        </p:nvSpPr>
        <p:spPr>
          <a:xfrm>
            <a:off x="8553298" y="27624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8" name="Image 1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639251" y="2838298"/>
            <a:ext cx="133502" cy="152705"/>
          </a:xfrm>
          <a:prstGeom prst="rect">
            <a:avLst/>
          </a:prstGeom>
        </p:spPr>
      </p:pic>
      <p:sp>
        <p:nvSpPr>
          <p:cNvPr id="99" name="Text 83"/>
          <p:cNvSpPr txBox="1"/>
          <p:nvPr/>
        </p:nvSpPr>
        <p:spPr>
          <a:xfrm>
            <a:off x="9001354" y="280629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Papel dos Mètres</a:t>
            </a:r>
            <a:endParaRPr lang="en-US" sz="1100" dirty="0"/>
          </a:p>
        </p:txBody>
      </p:sp>
      <p:sp>
        <p:nvSpPr>
          <p:cNvPr id="100" name="Shape 84"/>
          <p:cNvSpPr/>
          <p:nvPr/>
        </p:nvSpPr>
        <p:spPr>
          <a:xfrm>
            <a:off x="8096098" y="3295498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Shape 85"/>
          <p:cNvSpPr/>
          <p:nvPr/>
        </p:nvSpPr>
        <p:spPr>
          <a:xfrm>
            <a:off x="8096098" y="3295498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Text 86"/>
          <p:cNvSpPr txBox="1"/>
          <p:nvPr/>
        </p:nvSpPr>
        <p:spPr>
          <a:xfrm>
            <a:off x="8268005" y="345917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  <p:sp>
        <p:nvSpPr>
          <p:cNvPr id="103" name="Shape 87"/>
          <p:cNvSpPr/>
          <p:nvPr/>
        </p:nvSpPr>
        <p:spPr>
          <a:xfrm>
            <a:off x="8553298" y="34097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4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30107" y="3486607"/>
            <a:ext cx="152705" cy="152705"/>
          </a:xfrm>
          <a:prstGeom prst="rect">
            <a:avLst/>
          </a:prstGeom>
        </p:spPr>
      </p:pic>
      <p:sp>
        <p:nvSpPr>
          <p:cNvPr id="105" name="Text 88"/>
          <p:cNvSpPr txBox="1"/>
          <p:nvPr/>
        </p:nvSpPr>
        <p:spPr>
          <a:xfrm>
            <a:off x="9001354" y="3453689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Financeiras</a:t>
            </a:r>
            <a:endParaRPr lang="en-US" sz="1100" dirty="0"/>
          </a:p>
        </p:txBody>
      </p:sp>
      <p:sp>
        <p:nvSpPr>
          <p:cNvPr id="106" name="Shape 89"/>
          <p:cNvSpPr/>
          <p:nvPr/>
        </p:nvSpPr>
        <p:spPr>
          <a:xfrm>
            <a:off x="8096098" y="3943807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Shape 90"/>
          <p:cNvSpPr/>
          <p:nvPr/>
        </p:nvSpPr>
        <p:spPr>
          <a:xfrm>
            <a:off x="8096098" y="3943807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Text 91"/>
          <p:cNvSpPr txBox="1"/>
          <p:nvPr/>
        </p:nvSpPr>
        <p:spPr>
          <a:xfrm>
            <a:off x="8268005" y="410748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000" dirty="0"/>
          </a:p>
        </p:txBody>
      </p:sp>
      <p:sp>
        <p:nvSpPr>
          <p:cNvPr id="109" name="Shape 92"/>
          <p:cNvSpPr/>
          <p:nvPr/>
        </p:nvSpPr>
        <p:spPr>
          <a:xfrm>
            <a:off x="8553298" y="4058107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0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30107" y="4134002"/>
            <a:ext cx="152705" cy="152705"/>
          </a:xfrm>
          <a:prstGeom prst="rect">
            <a:avLst/>
          </a:prstGeom>
        </p:spPr>
      </p:pic>
      <p:sp>
        <p:nvSpPr>
          <p:cNvPr id="111" name="Text 93"/>
          <p:cNvSpPr txBox="1"/>
          <p:nvPr/>
        </p:nvSpPr>
        <p:spPr>
          <a:xfrm>
            <a:off x="9001354" y="410108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Competitiva</a:t>
            </a:r>
            <a:endParaRPr lang="en-US" sz="1100" dirty="0"/>
          </a:p>
        </p:txBody>
      </p:sp>
      <p:sp>
        <p:nvSpPr>
          <p:cNvPr id="112" name="Shape 94"/>
          <p:cNvSpPr/>
          <p:nvPr/>
        </p:nvSpPr>
        <p:spPr>
          <a:xfrm>
            <a:off x="8096098" y="4591202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Shape 95"/>
          <p:cNvSpPr/>
          <p:nvPr/>
        </p:nvSpPr>
        <p:spPr>
          <a:xfrm>
            <a:off x="8096098" y="4591202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Text 96"/>
          <p:cNvSpPr txBox="1"/>
          <p:nvPr/>
        </p:nvSpPr>
        <p:spPr>
          <a:xfrm>
            <a:off x="8268005" y="4754880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000" dirty="0"/>
          </a:p>
        </p:txBody>
      </p:sp>
      <p:sp>
        <p:nvSpPr>
          <p:cNvPr id="115" name="Shape 97"/>
          <p:cNvSpPr/>
          <p:nvPr/>
        </p:nvSpPr>
        <p:spPr>
          <a:xfrm>
            <a:off x="8553298" y="47055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6" name="Image 16" descr="preencoded.png"/>
          <p:cNvPicPr>
            <a:picLocks noChangeAspect="1"/>
          </p:cNvPicPr>
          <p:nvPr/>
        </p:nvPicPr>
        <p:blipFill>
          <a:blip r:embed="rId19"/>
          <a:srcRect l="-33" r="-33"/>
          <a:stretch/>
        </p:blipFill>
        <p:spPr>
          <a:xfrm>
            <a:off x="8620049" y="4781398"/>
            <a:ext cx="171907" cy="152705"/>
          </a:xfrm>
          <a:prstGeom prst="rect">
            <a:avLst/>
          </a:prstGeom>
        </p:spPr>
      </p:pic>
      <p:sp>
        <p:nvSpPr>
          <p:cNvPr id="117" name="Text 98"/>
          <p:cNvSpPr txBox="1"/>
          <p:nvPr/>
        </p:nvSpPr>
        <p:spPr>
          <a:xfrm>
            <a:off x="9001354" y="4749394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&amp; Estrutura</a:t>
            </a:r>
            <a:endParaRPr lang="en-US" sz="1100" dirty="0"/>
          </a:p>
        </p:txBody>
      </p:sp>
      <p:sp>
        <p:nvSpPr>
          <p:cNvPr id="118" name="Shape 99"/>
          <p:cNvSpPr/>
          <p:nvPr/>
        </p:nvSpPr>
        <p:spPr>
          <a:xfrm>
            <a:off x="8096098" y="5238598"/>
            <a:ext cx="3524098" cy="533095"/>
          </a:xfrm>
          <a:prstGeom prst="roundRect">
            <a:avLst>
              <a:gd name="adj" fmla="val 4900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Shape 100"/>
          <p:cNvSpPr/>
          <p:nvPr/>
        </p:nvSpPr>
        <p:spPr>
          <a:xfrm>
            <a:off x="8096098" y="5238598"/>
            <a:ext cx="28346" cy="533095"/>
          </a:xfrm>
          <a:prstGeom prst="roundRect">
            <a:avLst>
              <a:gd name="adj" fmla="val 921672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Text 101"/>
          <p:cNvSpPr txBox="1"/>
          <p:nvPr/>
        </p:nvSpPr>
        <p:spPr>
          <a:xfrm>
            <a:off x="8268005" y="5402275"/>
            <a:ext cx="362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000" dirty="0"/>
          </a:p>
        </p:txBody>
      </p:sp>
      <p:sp>
        <p:nvSpPr>
          <p:cNvPr id="121" name="Shape 102"/>
          <p:cNvSpPr/>
          <p:nvPr/>
        </p:nvSpPr>
        <p:spPr>
          <a:xfrm>
            <a:off x="8553298" y="5352898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2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630107" y="5429707"/>
            <a:ext cx="152705" cy="152705"/>
          </a:xfrm>
          <a:prstGeom prst="rect">
            <a:avLst/>
          </a:prstGeom>
        </p:spPr>
      </p:pic>
      <p:sp>
        <p:nvSpPr>
          <p:cNvPr id="123" name="Text 103"/>
          <p:cNvSpPr txBox="1"/>
          <p:nvPr/>
        </p:nvSpPr>
        <p:spPr>
          <a:xfrm>
            <a:off x="9001354" y="5396789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Roadmap 12 Meses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10598" y="4476902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381658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3439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 a MOV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931774"/>
            <a:ext cx="38276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Identidade, propósito e direção estratégica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899648" y="576072"/>
            <a:ext cx="800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08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71500" y="1668780"/>
            <a:ext cx="5333695" cy="182880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1668780"/>
            <a:ext cx="38405" cy="1828800"/>
          </a:xfrm>
          <a:prstGeom prst="roundRect">
            <a:avLst>
              <a:gd name="adj" fmla="val 297617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5257800" y="1858975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4654" y="1906524"/>
            <a:ext cx="46670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5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Missão 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4257" r="-4257"/>
          <a:stretch/>
        </p:blipFill>
        <p:spPr>
          <a:xfrm>
            <a:off x="847649" y="1953158"/>
            <a:ext cx="171907" cy="1810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7649" y="2276856"/>
            <a:ext cx="48966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o ecossistema de relacionamentos mais autêntico do Brasil, conectando pessoas reais através de experiências presenciais únicas e da tecnologia do encontro surpresa, combatendo a superficialidade digital.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71500" y="3728009"/>
            <a:ext cx="5333695" cy="182880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571500" y="3728009"/>
            <a:ext cx="38405" cy="1828800"/>
          </a:xfrm>
          <a:prstGeom prst="roundRect">
            <a:avLst>
              <a:gd name="adj" fmla="val 297617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44" r="-44"/>
          <a:stretch/>
        </p:blipFill>
        <p:spPr>
          <a:xfrm>
            <a:off x="5201107" y="3918204"/>
            <a:ext cx="514807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33856" y="3965753"/>
            <a:ext cx="464789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5" dirty="0">
                <a:solidFill>
                  <a:srgbClr val="38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Visão 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2525" r="-2525"/>
          <a:stretch/>
        </p:blipFill>
        <p:spPr>
          <a:xfrm>
            <a:off x="847649" y="4012387"/>
            <a:ext cx="190195" cy="18105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47649" y="4335170"/>
            <a:ext cx="48966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 referência absoluta em encontros curados nas 5 principais capitais do país até 2028, estabelecendo o App MOV como a plataforma de conexões mais inovadora e segura do mercado nacional.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71500" y="5787238"/>
            <a:ext cx="5333695" cy="182880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5"/>
          <p:cNvSpPr/>
          <p:nvPr/>
        </p:nvSpPr>
        <p:spPr>
          <a:xfrm>
            <a:off x="571500" y="5787238"/>
            <a:ext cx="38405" cy="1828800"/>
          </a:xfrm>
          <a:prstGeom prst="roundRect">
            <a:avLst>
              <a:gd name="adj" fmla="val 297617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 l="-44" r="-44"/>
          <a:stretch/>
        </p:blipFill>
        <p:spPr>
          <a:xfrm>
            <a:off x="5201107" y="5977433"/>
            <a:ext cx="514807" cy="4572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33856" y="6024982"/>
            <a:ext cx="464789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5" dirty="0">
                <a:solidFill>
                  <a:srgbClr val="A53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Tese de Negócio </a:t>
            </a:r>
            <a:endParaRPr lang="en-US" sz="14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2525" r="-2525"/>
          <a:stretch/>
        </p:blipFill>
        <p:spPr>
          <a:xfrm>
            <a:off x="847649" y="6071616"/>
            <a:ext cx="190195" cy="18105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47649" y="6394399"/>
            <a:ext cx="48966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união entre a segurança dos </a:t>
            </a:r>
            <a:r>
              <a:rPr lang="en-US" sz="12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eventos curados</a:t>
            </a: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escalabilidade do </a:t>
            </a:r>
            <a:r>
              <a:rPr lang="en-US" sz="12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de encontros surpresa</a:t>
            </a: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a profundidade do </a:t>
            </a:r>
            <a:r>
              <a:rPr lang="en-US" sz="12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autoconhecimento</a:t>
            </a:r>
            <a:r>
              <a:rPr lang="en-US" sz="12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cria um ciclo virtuoso de retenção e valor vitalício (LTV) superior. 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286500" y="1668780"/>
            <a:ext cx="5333695" cy="6172200"/>
          </a:xfrm>
          <a:prstGeom prst="roundRect">
            <a:avLst>
              <a:gd name="adj" fmla="val 98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19"/>
          <p:cNvSpPr/>
          <p:nvPr/>
        </p:nvSpPr>
        <p:spPr>
          <a:xfrm>
            <a:off x="6581851" y="2431390"/>
            <a:ext cx="4743907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0"/>
          <p:cNvSpPr txBox="1"/>
          <p:nvPr/>
        </p:nvSpPr>
        <p:spPr>
          <a:xfrm>
            <a:off x="6905549" y="1964131"/>
            <a:ext cx="449976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Nossos Valores </a:t>
            </a:r>
            <a:endParaRPr lang="en-US" sz="16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2018995"/>
            <a:ext cx="209398" cy="209398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581851" y="2674620"/>
            <a:ext cx="4743907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2"/>
          <p:cNvSpPr/>
          <p:nvPr/>
        </p:nvSpPr>
        <p:spPr>
          <a:xfrm>
            <a:off x="6696151" y="278892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385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95821" y="2888590"/>
            <a:ext cx="181051" cy="18105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220102" y="2788920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Autenticidade Radical</a:t>
            </a:r>
            <a:endParaRPr lang="en-US" sz="1200" dirty="0"/>
          </a:p>
        </p:txBody>
      </p:sp>
      <p:sp>
        <p:nvSpPr>
          <p:cNvPr id="35" name="Text 24"/>
          <p:cNvSpPr txBox="1"/>
          <p:nvPr/>
        </p:nvSpPr>
        <p:spPr>
          <a:xfrm>
            <a:off x="7220102" y="3055925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Ambientes sem filtros digitais onde as pessoas podem ser elas mesmas.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581851" y="3675888"/>
            <a:ext cx="4743907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6"/>
          <p:cNvSpPr/>
          <p:nvPr/>
        </p:nvSpPr>
        <p:spPr>
          <a:xfrm>
            <a:off x="6696151" y="379018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8B6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95821" y="3889858"/>
            <a:ext cx="181051" cy="181051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220102" y="3790188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Emocional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7220102" y="4056278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Respeito, consentimento e acolhimento como base de todas as interações.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6581851" y="4676242"/>
            <a:ext cx="4743907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0"/>
          <p:cNvSpPr/>
          <p:nvPr/>
        </p:nvSpPr>
        <p:spPr>
          <a:xfrm>
            <a:off x="6696151" y="479054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A538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rcRect l="-505" r="-505"/>
          <a:stretch/>
        </p:blipFill>
        <p:spPr>
          <a:xfrm>
            <a:off x="6772046" y="4891126"/>
            <a:ext cx="228600" cy="181051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220102" y="4790542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Inclusão</a:t>
            </a:r>
            <a:endParaRPr lang="en-US" sz="1200" dirty="0"/>
          </a:p>
        </p:txBody>
      </p:sp>
      <p:sp>
        <p:nvSpPr>
          <p:cNvPr id="45" name="Text 32"/>
          <p:cNvSpPr txBox="1"/>
          <p:nvPr/>
        </p:nvSpPr>
        <p:spPr>
          <a:xfrm>
            <a:off x="7220102" y="5057546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Abraçamos todos os grupos, idades e orientações com respeito genuíno.</a:t>
            </a:r>
            <a:endParaRPr lang="en-US" sz="1000" dirty="0"/>
          </a:p>
        </p:txBody>
      </p:sp>
      <p:sp>
        <p:nvSpPr>
          <p:cNvPr id="46" name="Shape 33"/>
          <p:cNvSpPr/>
          <p:nvPr/>
        </p:nvSpPr>
        <p:spPr>
          <a:xfrm>
            <a:off x="6581851" y="5677510"/>
            <a:ext cx="4743907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34"/>
          <p:cNvSpPr/>
          <p:nvPr/>
        </p:nvSpPr>
        <p:spPr>
          <a:xfrm>
            <a:off x="6696151" y="579181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795821" y="5892394"/>
            <a:ext cx="181051" cy="181051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220102" y="5791810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Curadoria com Propósito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7220102" y="6058814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unimos por algoritmos frios, mas por afinidades reais e intenções.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6581851" y="6678778"/>
            <a:ext cx="4743907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38"/>
          <p:cNvSpPr/>
          <p:nvPr/>
        </p:nvSpPr>
        <p:spPr>
          <a:xfrm>
            <a:off x="6696151" y="67930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ACC15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rcRect t="-856" b="-856"/>
          <a:stretch/>
        </p:blipFill>
        <p:spPr>
          <a:xfrm>
            <a:off x="6819595" y="6892747"/>
            <a:ext cx="133502" cy="181051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7220102" y="6793078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Inovação Contínua</a:t>
            </a:r>
            <a:endParaRPr lang="en-US" sz="1200" dirty="0"/>
          </a:p>
        </p:txBody>
      </p:sp>
      <p:sp>
        <p:nvSpPr>
          <p:cNvPr id="55" name="Text 40"/>
          <p:cNvSpPr txBox="1"/>
          <p:nvPr/>
        </p:nvSpPr>
        <p:spPr>
          <a:xfrm>
            <a:off x="7220102" y="7060082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 constante por novas formas sensoriais e temáticas de gerar conexão.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52011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1774"/>
            <a:ext cx="5772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cenário atual de relacionamentos enfrenta uma crise de conexão real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25835" y="840334"/>
            <a:ext cx="6766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693469"/>
            <a:ext cx="3524098" cy="3314700"/>
          </a:xfrm>
          <a:prstGeom prst="roundRect">
            <a:avLst>
              <a:gd name="adj" fmla="val 253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71500" y="1693469"/>
            <a:ext cx="3524098" cy="38405"/>
          </a:xfrm>
          <a:prstGeom prst="roundRect">
            <a:avLst>
              <a:gd name="adj" fmla="val 218937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57707" y="201716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013" b="-1013"/>
          <a:stretch/>
        </p:blipFill>
        <p:spPr>
          <a:xfrm>
            <a:off x="990295" y="2165299"/>
            <a:ext cx="304495" cy="2761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165653" y="2017166"/>
            <a:ext cx="647395" cy="247802"/>
          </a:xfrm>
          <a:prstGeom prst="roundRect">
            <a:avLst>
              <a:gd name="adj" fmla="val 113540"/>
            </a:avLst>
          </a:prstGeom>
          <a:solidFill>
            <a:srgbClr val="FF385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3165653" y="2017166"/>
            <a:ext cx="7050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38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" y="2779776"/>
            <a:ext cx="3143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857707" y="3483864"/>
            <a:ext cx="3067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Fadiga Digital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7707" y="3854196"/>
            <a:ext cx="30294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 usuários de aplicativos de namoro relatam exaustão emocional com o processo mecânico de "swiping" sem resultados reais.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34256" y="1693469"/>
            <a:ext cx="3524098" cy="3314700"/>
          </a:xfrm>
          <a:prstGeom prst="roundRect">
            <a:avLst>
              <a:gd name="adj" fmla="val 253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334256" y="1693469"/>
            <a:ext cx="3524098" cy="38405"/>
          </a:xfrm>
          <a:prstGeom prst="roundRect">
            <a:avLst>
              <a:gd name="adj" fmla="val 218937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619549" y="201716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333" b="-333"/>
          <a:stretch/>
        </p:blipFill>
        <p:spPr>
          <a:xfrm>
            <a:off x="4733849" y="2165299"/>
            <a:ext cx="342900" cy="27614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619549" y="2779776"/>
            <a:ext cx="3143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8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</a:t>
            </a:r>
            <a:endParaRPr lang="en-US" sz="4800" dirty="0"/>
          </a:p>
        </p:txBody>
      </p:sp>
      <p:sp>
        <p:nvSpPr>
          <p:cNvPr id="22" name="Text 18"/>
          <p:cNvSpPr txBox="1"/>
          <p:nvPr/>
        </p:nvSpPr>
        <p:spPr>
          <a:xfrm>
            <a:off x="4619549" y="3483864"/>
            <a:ext cx="3067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Solidão Urbana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619549" y="3854196"/>
            <a:ext cx="30294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 jovens adultos em São Paulo relatam sentimentos frequentes de solidão e falta de "terceiros lugares" para socializar.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96098" y="1693469"/>
            <a:ext cx="3524098" cy="3314700"/>
          </a:xfrm>
          <a:prstGeom prst="roundRect">
            <a:avLst>
              <a:gd name="adj" fmla="val 253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1"/>
          <p:cNvSpPr/>
          <p:nvPr/>
        </p:nvSpPr>
        <p:spPr>
          <a:xfrm>
            <a:off x="8096098" y="1693469"/>
            <a:ext cx="3524098" cy="38405"/>
          </a:xfrm>
          <a:prstGeom prst="roundRect">
            <a:avLst>
              <a:gd name="adj" fmla="val 218937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8382305" y="201716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t="-333" b="-333"/>
          <a:stretch/>
        </p:blipFill>
        <p:spPr>
          <a:xfrm>
            <a:off x="8496605" y="2165299"/>
            <a:ext cx="342900" cy="276149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382305" y="2779776"/>
            <a:ext cx="307147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A53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</a:t>
            </a:r>
            <a:endParaRPr lang="en-US" sz="3300" dirty="0"/>
          </a:p>
        </p:txBody>
      </p:sp>
      <p:sp>
        <p:nvSpPr>
          <p:cNvPr id="29" name="Text 24"/>
          <p:cNvSpPr txBox="1"/>
          <p:nvPr/>
        </p:nvSpPr>
        <p:spPr>
          <a:xfrm>
            <a:off x="8382305" y="3482035"/>
            <a:ext cx="3067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Insegurança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8581644" y="3851453"/>
            <a:ext cx="283006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Perfis Falsos (Catfishing)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Ghosting &amp; Abandono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Falta de Curadoria </a:t>
            </a:r>
            <a:endParaRPr lang="en-US" sz="11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8382305" y="3888943"/>
            <a:ext cx="105156" cy="142646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8382305" y="4105656"/>
            <a:ext cx="105156" cy="142646"/>
          </a:xfrm>
          <a:prstGeom prst="rect">
            <a:avLst/>
          </a:prstGeom>
        </p:spPr>
      </p:pic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 t="-870" b="-870"/>
          <a:stretch/>
        </p:blipFill>
        <p:spPr>
          <a:xfrm>
            <a:off x="8382305" y="4323283"/>
            <a:ext cx="105156" cy="142646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71500" y="5293462"/>
            <a:ext cx="11048695" cy="1190549"/>
          </a:xfrm>
          <a:prstGeom prst="roundRect">
            <a:avLst>
              <a:gd name="adj" fmla="val 14747"/>
            </a:avLst>
          </a:prstGeom>
          <a:solidFill>
            <a:srgbClr val="4ADE80">
              <a:alpha val="8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7"/>
          <p:cNvSpPr/>
          <p:nvPr/>
        </p:nvSpPr>
        <p:spPr>
          <a:xfrm>
            <a:off x="866851" y="5552237"/>
            <a:ext cx="666598" cy="666598"/>
          </a:xfrm>
          <a:prstGeom prst="ellipse">
            <a:avLst/>
          </a:prstGeom>
          <a:solidFill>
            <a:srgbClr val="4ADE8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rcRect l="-40" r="-40"/>
          <a:stretch/>
        </p:blipFill>
        <p:spPr>
          <a:xfrm>
            <a:off x="1057046" y="5694883"/>
            <a:ext cx="286207" cy="3813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819656" y="5495544"/>
            <a:ext cx="9620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4AD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Grande Oportunidade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819656" y="5794553"/>
            <a:ext cx="95829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Há uma demanda reprimida gigantesca por alternativas que ofereçam a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da curadoria</a:t>
            </a: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eficiência do encontro rápido e a </a:t>
            </a: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magia da conexão olho no olho</a:t>
            </a: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10715854" y="5580583"/>
            <a:ext cx="609905" cy="609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29500" y="3047695"/>
            <a:ext cx="5715000" cy="5715000"/>
          </a:xfrm>
          <a:prstGeom prst="ellipse">
            <a:avLst/>
          </a:prstGeom>
          <a:noFill/>
          <a:ln w="25400">
            <a:solidFill>
              <a:srgbClr val="FF385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62495" y="1524305"/>
            <a:ext cx="3810305" cy="3810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2805" y="1561795"/>
            <a:ext cx="8649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Plano de Negócios • Expansão 2026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52805" y="1981505"/>
            <a:ext cx="761695" cy="576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2805" y="2343607"/>
            <a:ext cx="87060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MOV Fase 3: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08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de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Autoconhecimento 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629607"/>
            <a:ext cx="64867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1D1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Expansão estratégica do ecossistema MOV: integrando conexões reais e crescimento pessoal.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57200"/>
            <a:ext cx="886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20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9046159" y="533095"/>
            <a:ext cx="2315261" cy="30541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Confidencial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6019495"/>
            <a:ext cx="997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São Paulo, SP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6210605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Brasil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122615" y="6019495"/>
            <a:ext cx="3162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Março, 2026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665415" y="6248095"/>
            <a:ext cx="3620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© 2026 MOV Speed-Dating. Todos os direitos reservados.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524305" y="3826764"/>
            <a:ext cx="9144000" cy="1920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24605" y="3461004"/>
            <a:ext cx="838505" cy="237744"/>
          </a:xfrm>
          <a:prstGeom prst="roundRect">
            <a:avLst>
              <a:gd name="adj" fmla="val 123077"/>
            </a:avLst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3924605" y="3461004"/>
            <a:ext cx="8961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Assinatura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696505" y="3461004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696505" y="3461004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Upsell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1305" y="6398971"/>
            <a:ext cx="11430000" cy="629107"/>
          </a:xfrm>
          <a:prstGeom prst="roundRect">
            <a:avLst>
              <a:gd name="adj" fmla="val 52854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66598" y="6541618"/>
            <a:ext cx="10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R$ 3.8M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54734" y="6567221"/>
            <a:ext cx="10387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Receita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Projetada (Ano 3)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33342" y="6541618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00270" y="6567221"/>
            <a:ext cx="6958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Comissão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Serviço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136892" y="6541618"/>
            <a:ext cx="781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LTV++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978140" y="6567221"/>
            <a:ext cx="7818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Aumento do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de Vida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299802" y="6541618"/>
            <a:ext cx="61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977372" y="6567221"/>
            <a:ext cx="6099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Solução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Completa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t="-30" b="-30"/>
          <a:stretch/>
        </p:blipFill>
        <p:spPr>
          <a:xfrm>
            <a:off x="4038905" y="3674974"/>
            <a:ext cx="190195" cy="304495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t="-30" b="-30"/>
          <a:stretch/>
        </p:blipFill>
        <p:spPr>
          <a:xfrm>
            <a:off x="7810805" y="3674974"/>
            <a:ext cx="190195" cy="304495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952805" y="1540764"/>
            <a:ext cx="3238805" cy="45720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190549" y="2456078"/>
            <a:ext cx="2762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1190549" y="183611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385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4907" y="1960474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09598" y="1846174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809598" y="2029054"/>
            <a:ext cx="176753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Relacionamentos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0549" y="2693822"/>
            <a:ext cx="123444" cy="1234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0005" y="2655418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 Clássico: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Speed-dating rápido e divertido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0549" y="3192170"/>
            <a:ext cx="123444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10005" y="3153766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 Sensorial: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Conexão profunda sem visual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0549" y="3690518"/>
            <a:ext cx="123444" cy="1234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410005" y="3652114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 Exclusivo: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Curadoria premium e locais de luxo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1190549" y="4758538"/>
            <a:ext cx="2762402" cy="1123798"/>
          </a:xfrm>
          <a:prstGeom prst="roundRect">
            <a:avLst>
              <a:gd name="adj" fmla="val 11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4"/>
          <p:cNvSpPr txBox="1"/>
          <p:nvPr/>
        </p:nvSpPr>
        <p:spPr>
          <a:xfrm>
            <a:off x="1333195" y="4901184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1333195" y="5148986"/>
            <a:ext cx="25530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Aquisição de usuários e introdução ao ecossistema através de experiências presenciais de alto impacto.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4476902" y="1540764"/>
            <a:ext cx="3238805" cy="45720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714646" y="2456078"/>
            <a:ext cx="2762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7"/>
          <p:cNvSpPr/>
          <p:nvPr/>
        </p:nvSpPr>
        <p:spPr>
          <a:xfrm>
            <a:off x="4714646" y="183611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38B6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4867351" y="1960474"/>
            <a:ext cx="171907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333695" y="1846174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2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5333695" y="2029054"/>
            <a:ext cx="136062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(App)</a:t>
            </a:r>
            <a:endParaRPr lang="en-US" sz="14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4646" y="2693822"/>
            <a:ext cx="123444" cy="1234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4934102" y="2655418"/>
            <a:ext cx="27550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"Mov":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Plataforma proprietária</a:t>
            </a:r>
            <a:endParaRPr lang="en-US" sz="10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4646" y="3000146"/>
            <a:ext cx="123444" cy="123444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934102" y="2961742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Encontros Surpresa: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Algoritmo define par ideal, local revelado na hora</a:t>
            </a:r>
            <a:endParaRPr lang="en-US" sz="10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14646" y="3498494"/>
            <a:ext cx="123444" cy="123444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4934102" y="3460090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Transformar desconhecidos em amigos</a:t>
            </a:r>
            <a:endParaRPr lang="en-US" sz="10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 t="-1359" b="-1359"/>
          <a:stretch/>
        </p:blipFill>
        <p:spPr>
          <a:xfrm>
            <a:off x="4714646" y="3996842"/>
            <a:ext cx="105156" cy="123444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4914900" y="3958438"/>
            <a:ext cx="9409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R$ 39,90 / mês</a:t>
            </a:r>
            <a:endParaRPr lang="en-US" sz="900" dirty="0"/>
          </a:p>
        </p:txBody>
      </p:sp>
      <p:sp>
        <p:nvSpPr>
          <p:cNvPr id="49" name="Shape 34"/>
          <p:cNvSpPr/>
          <p:nvPr/>
        </p:nvSpPr>
        <p:spPr>
          <a:xfrm>
            <a:off x="4714646" y="4758538"/>
            <a:ext cx="2762402" cy="1123798"/>
          </a:xfrm>
          <a:prstGeom prst="roundRect">
            <a:avLst>
              <a:gd name="adj" fmla="val 11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35"/>
          <p:cNvSpPr txBox="1"/>
          <p:nvPr/>
        </p:nvSpPr>
        <p:spPr>
          <a:xfrm>
            <a:off x="4858207" y="4901184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</a:t>
            </a:r>
            <a:endParaRPr lang="en-US" sz="900" dirty="0"/>
          </a:p>
        </p:txBody>
      </p:sp>
      <p:sp>
        <p:nvSpPr>
          <p:cNvPr id="51" name="Text 36"/>
          <p:cNvSpPr txBox="1"/>
          <p:nvPr/>
        </p:nvSpPr>
        <p:spPr>
          <a:xfrm>
            <a:off x="4858207" y="5148986"/>
            <a:ext cx="25530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Recorrência (LTV), engajamento diário e manutenção da conexão entre eventos presenciais.</a:t>
            </a:r>
            <a:endParaRPr lang="en-US" sz="10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1"/>
          <a:srcRect l="-5" r="-5"/>
          <a:stretch/>
        </p:blipFill>
        <p:spPr>
          <a:xfrm>
            <a:off x="8001000" y="1540764"/>
            <a:ext cx="3238805" cy="4572000"/>
          </a:xfrm>
          <a:prstGeom prst="rect">
            <a:avLst/>
          </a:prstGeom>
        </p:spPr>
      </p:pic>
      <p:sp>
        <p:nvSpPr>
          <p:cNvPr id="53" name="Shape 37"/>
          <p:cNvSpPr/>
          <p:nvPr/>
        </p:nvSpPr>
        <p:spPr>
          <a:xfrm>
            <a:off x="8238744" y="2456078"/>
            <a:ext cx="2762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38"/>
          <p:cNvSpPr/>
          <p:nvPr/>
        </p:nvSpPr>
        <p:spPr>
          <a:xfrm>
            <a:off x="8238744" y="183611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A538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2"/>
          <a:srcRect t="-45" b="-45"/>
          <a:stretch/>
        </p:blipFill>
        <p:spPr>
          <a:xfrm>
            <a:off x="8348472" y="1960474"/>
            <a:ext cx="256946" cy="22860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8858707" y="1846174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3 (Novo)</a:t>
            </a:r>
            <a:endParaRPr lang="en-US" sz="900" dirty="0"/>
          </a:p>
        </p:txBody>
      </p:sp>
      <p:sp>
        <p:nvSpPr>
          <p:cNvPr id="57" name="Text 40"/>
          <p:cNvSpPr txBox="1"/>
          <p:nvPr/>
        </p:nvSpPr>
        <p:spPr>
          <a:xfrm>
            <a:off x="8858707" y="2029054"/>
            <a:ext cx="1924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Autoconhecimento</a:t>
            </a:r>
            <a:endParaRPr lang="en-US" sz="140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38744" y="2693822"/>
            <a:ext cx="123444" cy="123444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458200" y="2655418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Tantra &amp; Intimidade: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Workshops e sessões</a:t>
            </a:r>
            <a:endParaRPr lang="en-US" sz="10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38744" y="3192170"/>
            <a:ext cx="123444" cy="123444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458200" y="3153766"/>
            <a:ext cx="26197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Terapia de Casal: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Mediação de conflitos</a:t>
            </a:r>
            <a:endParaRPr lang="en-US" sz="10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38744" y="3690518"/>
            <a:ext cx="123444" cy="123444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8458200" y="3652114"/>
            <a:ext cx="25621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Coaching: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Relacionamento e vida</a:t>
            </a:r>
            <a:endParaRPr lang="en-US" sz="1000" dirty="0"/>
          </a:p>
        </p:txBody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38744" y="3996842"/>
            <a:ext cx="123444" cy="123444"/>
          </a:xfrm>
          <a:prstGeom prst="rect">
            <a:avLst/>
          </a:prstGeom>
        </p:spPr>
      </p:pic>
      <p:sp>
        <p:nvSpPr>
          <p:cNvPr id="65" name="Text 44"/>
          <p:cNvSpPr txBox="1"/>
          <p:nvPr/>
        </p:nvSpPr>
        <p:spPr>
          <a:xfrm>
            <a:off x="8458200" y="3958438"/>
            <a:ext cx="25164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Constelação Familiar:</a:t>
            </a:r>
            <a:r>
              <a:rPr lang="en-US" sz="1000" dirty="0">
                <a:solidFill>
                  <a:srgbClr val="DDDDD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Sistêmica</a:t>
            </a:r>
            <a:endParaRPr lang="en-US" sz="1000" dirty="0"/>
          </a:p>
        </p:txBody>
      </p:sp>
      <p:sp>
        <p:nvSpPr>
          <p:cNvPr id="66" name="Shape 45"/>
          <p:cNvSpPr/>
          <p:nvPr/>
        </p:nvSpPr>
        <p:spPr>
          <a:xfrm>
            <a:off x="8238744" y="4758538"/>
            <a:ext cx="2762402" cy="1123798"/>
          </a:xfrm>
          <a:prstGeom prst="roundRect">
            <a:avLst>
              <a:gd name="adj" fmla="val 110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46"/>
          <p:cNvSpPr txBox="1"/>
          <p:nvPr/>
        </p:nvSpPr>
        <p:spPr>
          <a:xfrm>
            <a:off x="8382305" y="4901184"/>
            <a:ext cx="25758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</a:t>
            </a:r>
            <a:endParaRPr lang="en-US" sz="900" dirty="0"/>
          </a:p>
        </p:txBody>
      </p:sp>
      <p:sp>
        <p:nvSpPr>
          <p:cNvPr id="68" name="Text 47"/>
          <p:cNvSpPr txBox="1"/>
          <p:nvPr/>
        </p:nvSpPr>
        <p:spPr>
          <a:xfrm>
            <a:off x="8382305" y="5148986"/>
            <a:ext cx="25530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Monetização de serviços (marketplace), profundidade na jornada do cliente e retenção de longo prazo.</a:t>
            </a:r>
            <a:endParaRPr lang="en-US" sz="1000" dirty="0"/>
          </a:p>
        </p:txBody>
      </p:sp>
      <p:sp>
        <p:nvSpPr>
          <p:cNvPr id="69" name="Text 48"/>
          <p:cNvSpPr txBox="1"/>
          <p:nvPr/>
        </p:nvSpPr>
        <p:spPr>
          <a:xfrm>
            <a:off x="381305" y="381305"/>
            <a:ext cx="531175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Ecossistema Integrado MOV</a:t>
            </a:r>
            <a:endParaRPr lang="en-US" sz="2600" dirty="0"/>
          </a:p>
        </p:txBody>
      </p:sp>
      <p:sp>
        <p:nvSpPr>
          <p:cNvPr id="70" name="Text 49"/>
          <p:cNvSpPr txBox="1"/>
          <p:nvPr/>
        </p:nvSpPr>
        <p:spPr>
          <a:xfrm>
            <a:off x="381305" y="931774"/>
            <a:ext cx="5058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jornada do cliente através de 3 fases complementares</a:t>
            </a:r>
            <a:endParaRPr lang="en-US" sz="1200" dirty="0"/>
          </a:p>
        </p:txBody>
      </p:sp>
      <p:sp>
        <p:nvSpPr>
          <p:cNvPr id="71" name="Text 50"/>
          <p:cNvSpPr txBox="1"/>
          <p:nvPr/>
        </p:nvSpPr>
        <p:spPr>
          <a:xfrm>
            <a:off x="11210544" y="598932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90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400050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506931"/>
            <a:ext cx="2619756" cy="4791456"/>
          </a:xfrm>
          <a:prstGeom prst="roundRect">
            <a:avLst>
              <a:gd name="adj" fmla="val 304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506931"/>
            <a:ext cx="2619756" cy="38405"/>
          </a:xfrm>
          <a:prstGeom prst="roundRect">
            <a:avLst>
              <a:gd name="adj" fmla="val 207791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00100" y="1773936"/>
            <a:ext cx="533095" cy="533095"/>
          </a:xfrm>
          <a:prstGeom prst="ellipse">
            <a:avLst/>
          </a:prstGeom>
          <a:solidFill>
            <a:srgbClr val="FF385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66521" y="1925726"/>
            <a:ext cx="200254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0100" y="2497226"/>
            <a:ext cx="2330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Tantra &amp; Intimidade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" y="2840126"/>
            <a:ext cx="2238451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Workshops vivenciais focados em autoconsciência corporal, conexão energética e intimidade consciente.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00100" y="4082796"/>
            <a:ext cx="21625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981151" y="423550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Workshop Grupo (2-3h)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/>
        </p:blipFill>
        <p:spPr>
          <a:xfrm>
            <a:off x="800100" y="4273906"/>
            <a:ext cx="105156" cy="1051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81151" y="4494276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Sessão Individual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/>
        </p:blipFill>
        <p:spPr>
          <a:xfrm>
            <a:off x="800100" y="4533595"/>
            <a:ext cx="105156" cy="1051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1151" y="475305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Imersão (Dia todo)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/>
        </p:blipFill>
        <p:spPr>
          <a:xfrm>
            <a:off x="800100" y="4792370"/>
            <a:ext cx="105156" cy="1051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0100" y="5202936"/>
            <a:ext cx="2162556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2"/>
          <p:cNvSpPr txBox="1"/>
          <p:nvPr/>
        </p:nvSpPr>
        <p:spPr>
          <a:xfrm>
            <a:off x="875995" y="5317236"/>
            <a:ext cx="20116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Médio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875995" y="5515661"/>
            <a:ext cx="2011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R$ 200 - R$ 1.200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75995" y="5767121"/>
            <a:ext cx="2011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experiência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3381451" y="1506931"/>
            <a:ext cx="2619756" cy="4791456"/>
          </a:xfrm>
          <a:prstGeom prst="roundRect">
            <a:avLst>
              <a:gd name="adj" fmla="val 304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3381451" y="1506931"/>
            <a:ext cx="2619756" cy="38405"/>
          </a:xfrm>
          <a:prstGeom prst="roundRect">
            <a:avLst>
              <a:gd name="adj" fmla="val 207791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7"/>
          <p:cNvSpPr/>
          <p:nvPr/>
        </p:nvSpPr>
        <p:spPr>
          <a:xfrm>
            <a:off x="3610051" y="1773936"/>
            <a:ext cx="533095" cy="533095"/>
          </a:xfrm>
          <a:prstGeom prst="ellipse">
            <a:avLst/>
          </a:prstGeom>
          <a:solidFill>
            <a:srgbClr val="38B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733495" y="1925726"/>
            <a:ext cx="286207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610051" y="249722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Terapia de Casal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3610051" y="2840126"/>
            <a:ext cx="2238451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Sessões guiadas para melhorar a comunicação, resolver conflitos e alinhar expectativas na relação.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610051" y="4082796"/>
            <a:ext cx="21625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3791102" y="423550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Sessão Avulsa (60min)</a:t>
            </a:r>
            <a:endParaRPr lang="en-US" sz="9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3610051" y="4273906"/>
            <a:ext cx="105156" cy="1051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791102" y="4494276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Pacote Mensal (4x)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3610051" y="4533595"/>
            <a:ext cx="105156" cy="1051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791102" y="475305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Programa 12 Semanas</a:t>
            </a:r>
            <a:endParaRPr lang="en-US" sz="9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3610051" y="4792370"/>
            <a:ext cx="105156" cy="105156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3610051" y="5202936"/>
            <a:ext cx="2162556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25"/>
          <p:cNvSpPr txBox="1"/>
          <p:nvPr/>
        </p:nvSpPr>
        <p:spPr>
          <a:xfrm>
            <a:off x="3685946" y="5317236"/>
            <a:ext cx="20116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Médio</a:t>
            </a:r>
            <a:endParaRPr lang="en-US" sz="800" dirty="0"/>
          </a:p>
        </p:txBody>
      </p:sp>
      <p:sp>
        <p:nvSpPr>
          <p:cNvPr id="37" name="Text 26"/>
          <p:cNvSpPr txBox="1"/>
          <p:nvPr/>
        </p:nvSpPr>
        <p:spPr>
          <a:xfrm>
            <a:off x="3685946" y="5515661"/>
            <a:ext cx="2011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R$ 200 - R$ 4.800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3685946" y="5767121"/>
            <a:ext cx="2011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sessão ou pacote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6191402" y="1506931"/>
            <a:ext cx="2619756" cy="4791456"/>
          </a:xfrm>
          <a:prstGeom prst="roundRect">
            <a:avLst>
              <a:gd name="adj" fmla="val 304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29"/>
          <p:cNvSpPr/>
          <p:nvPr/>
        </p:nvSpPr>
        <p:spPr>
          <a:xfrm>
            <a:off x="6191402" y="1506931"/>
            <a:ext cx="2619756" cy="38405"/>
          </a:xfrm>
          <a:prstGeom prst="roundRect">
            <a:avLst>
              <a:gd name="adj" fmla="val 207791"/>
            </a:avLst>
          </a:prstGeom>
          <a:solidFill>
            <a:srgbClr val="FF9F1C"/>
          </a:solidFill>
          <a:ln w="12700">
            <a:solidFill>
              <a:srgbClr val="FF9F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0"/>
          <p:cNvSpPr/>
          <p:nvPr/>
        </p:nvSpPr>
        <p:spPr>
          <a:xfrm>
            <a:off x="6420002" y="1773936"/>
            <a:ext cx="533095" cy="533095"/>
          </a:xfrm>
          <a:prstGeom prst="ellipse">
            <a:avLst/>
          </a:prstGeom>
          <a:solidFill>
            <a:srgbClr val="FF9F1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1925726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420002" y="2497226"/>
            <a:ext cx="2238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 de Relacionamento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6420002" y="3068726"/>
            <a:ext cx="22384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 estruturado com metas claras para desenvolver habilidades sociais e padrões de escolha saudáveis.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420002" y="4082796"/>
            <a:ext cx="21625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4"/>
          <p:cNvSpPr txBox="1"/>
          <p:nvPr/>
        </p:nvSpPr>
        <p:spPr>
          <a:xfrm>
            <a:off x="6601054" y="423550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Sessão Estratégica</a:t>
            </a:r>
            <a:endParaRPr lang="en-US" sz="9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/>
          <a:stretch/>
        </p:blipFill>
        <p:spPr>
          <a:xfrm>
            <a:off x="6420002" y="4273906"/>
            <a:ext cx="105156" cy="105156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601054" y="4494276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Programa "Love Ready"</a:t>
            </a:r>
            <a:endParaRPr lang="en-US" sz="9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/>
          <a:stretch/>
        </p:blipFill>
        <p:spPr>
          <a:xfrm>
            <a:off x="6420002" y="4533595"/>
            <a:ext cx="105156" cy="105156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601054" y="475305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Mentoria 6-10 Semanas</a:t>
            </a:r>
            <a:endParaRPr lang="en-US" sz="9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/>
          <a:stretch/>
        </p:blipFill>
        <p:spPr>
          <a:xfrm>
            <a:off x="6420002" y="4792370"/>
            <a:ext cx="105156" cy="105156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6420002" y="5202936"/>
            <a:ext cx="2162556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38"/>
          <p:cNvSpPr txBox="1"/>
          <p:nvPr/>
        </p:nvSpPr>
        <p:spPr>
          <a:xfrm>
            <a:off x="6495898" y="5317236"/>
            <a:ext cx="20116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Médio</a:t>
            </a:r>
            <a:endParaRPr lang="en-US" sz="800" dirty="0"/>
          </a:p>
        </p:txBody>
      </p:sp>
      <p:sp>
        <p:nvSpPr>
          <p:cNvPr id="54" name="Text 39"/>
          <p:cNvSpPr txBox="1"/>
          <p:nvPr/>
        </p:nvSpPr>
        <p:spPr>
          <a:xfrm>
            <a:off x="6474866" y="5515661"/>
            <a:ext cx="20528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R$ 1.200 - R$ 3.000</a:t>
            </a:r>
            <a:endParaRPr lang="en-US" sz="1300" dirty="0"/>
          </a:p>
        </p:txBody>
      </p:sp>
      <p:sp>
        <p:nvSpPr>
          <p:cNvPr id="55" name="Text 40"/>
          <p:cNvSpPr txBox="1"/>
          <p:nvPr/>
        </p:nvSpPr>
        <p:spPr>
          <a:xfrm>
            <a:off x="6495898" y="5767121"/>
            <a:ext cx="2011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 completo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9001354" y="1506931"/>
            <a:ext cx="2619756" cy="4791456"/>
          </a:xfrm>
          <a:prstGeom prst="roundRect">
            <a:avLst>
              <a:gd name="adj" fmla="val 304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42"/>
          <p:cNvSpPr/>
          <p:nvPr/>
        </p:nvSpPr>
        <p:spPr>
          <a:xfrm>
            <a:off x="9001354" y="1506931"/>
            <a:ext cx="2619756" cy="38405"/>
          </a:xfrm>
          <a:prstGeom prst="roundRect">
            <a:avLst>
              <a:gd name="adj" fmla="val 207791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43"/>
          <p:cNvSpPr/>
          <p:nvPr/>
        </p:nvSpPr>
        <p:spPr>
          <a:xfrm>
            <a:off x="9229954" y="1773936"/>
            <a:ext cx="533095" cy="533095"/>
          </a:xfrm>
          <a:prstGeom prst="ellipse">
            <a:avLst/>
          </a:prstGeom>
          <a:solidFill>
            <a:srgbClr val="A538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9368028" y="1925726"/>
            <a:ext cx="256946" cy="228600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9229954" y="2497226"/>
            <a:ext cx="2448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Constelação Familiar</a:t>
            </a:r>
            <a:endParaRPr lang="en-US" sz="1500" dirty="0"/>
          </a:p>
        </p:txBody>
      </p:sp>
      <p:sp>
        <p:nvSpPr>
          <p:cNvPr id="61" name="Text 45"/>
          <p:cNvSpPr txBox="1"/>
          <p:nvPr/>
        </p:nvSpPr>
        <p:spPr>
          <a:xfrm>
            <a:off x="9229954" y="2840126"/>
            <a:ext cx="2238451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Abordagem sistêmica para identificar e liberar bloqueios emocionais herdados e dinâmicas familiares ocultas.</a:t>
            </a:r>
            <a:endParaRPr lang="en-US" sz="1000" dirty="0"/>
          </a:p>
        </p:txBody>
      </p:sp>
      <p:sp>
        <p:nvSpPr>
          <p:cNvPr id="62" name="Shape 46"/>
          <p:cNvSpPr/>
          <p:nvPr/>
        </p:nvSpPr>
        <p:spPr>
          <a:xfrm>
            <a:off x="9229954" y="4082796"/>
            <a:ext cx="21625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47"/>
          <p:cNvSpPr txBox="1"/>
          <p:nvPr/>
        </p:nvSpPr>
        <p:spPr>
          <a:xfrm>
            <a:off x="9411005" y="423550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Vivência em Grupo</a:t>
            </a:r>
            <a:endParaRPr lang="en-US" sz="900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/>
          <a:stretch/>
        </p:blipFill>
        <p:spPr>
          <a:xfrm>
            <a:off x="9229954" y="4273906"/>
            <a:ext cx="105156" cy="105156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9411005" y="4494276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Atendimento Individual</a:t>
            </a:r>
            <a:endParaRPr lang="en-US" sz="900" dirty="0"/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/>
          <a:stretch/>
        </p:blipFill>
        <p:spPr>
          <a:xfrm>
            <a:off x="9229954" y="4533595"/>
            <a:ext cx="105156" cy="105156"/>
          </a:xfrm>
          <a:prstGeom prst="rect">
            <a:avLst/>
          </a:prstGeom>
        </p:spPr>
      </p:pic>
      <p:sp>
        <p:nvSpPr>
          <p:cNvPr id="67" name="Text 49"/>
          <p:cNvSpPr txBox="1"/>
          <p:nvPr/>
        </p:nvSpPr>
        <p:spPr>
          <a:xfrm>
            <a:off x="9411005" y="4753051"/>
            <a:ext cx="20683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Workshop Temático</a:t>
            </a:r>
            <a:endParaRPr lang="en-US" sz="900" dirty="0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/>
          <a:stretch/>
        </p:blipFill>
        <p:spPr>
          <a:xfrm>
            <a:off x="9229954" y="4792370"/>
            <a:ext cx="105156" cy="105156"/>
          </a:xfrm>
          <a:prstGeom prst="rect">
            <a:avLst/>
          </a:prstGeom>
        </p:spPr>
      </p:pic>
      <p:sp>
        <p:nvSpPr>
          <p:cNvPr id="69" name="Shape 50"/>
          <p:cNvSpPr/>
          <p:nvPr/>
        </p:nvSpPr>
        <p:spPr>
          <a:xfrm>
            <a:off x="9229954" y="5202936"/>
            <a:ext cx="2162556" cy="866851"/>
          </a:xfrm>
          <a:prstGeom prst="roundRect">
            <a:avLst>
              <a:gd name="adj" fmla="val 1854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51"/>
          <p:cNvSpPr txBox="1"/>
          <p:nvPr/>
        </p:nvSpPr>
        <p:spPr>
          <a:xfrm>
            <a:off x="9304934" y="5317236"/>
            <a:ext cx="20116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 Médio</a:t>
            </a:r>
            <a:endParaRPr lang="en-US" sz="800" dirty="0"/>
          </a:p>
        </p:txBody>
      </p:sp>
      <p:sp>
        <p:nvSpPr>
          <p:cNvPr id="71" name="Text 52"/>
          <p:cNvSpPr txBox="1"/>
          <p:nvPr/>
        </p:nvSpPr>
        <p:spPr>
          <a:xfrm>
            <a:off x="9304934" y="5515661"/>
            <a:ext cx="2011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R$ 150 - R$ 600</a:t>
            </a:r>
            <a:endParaRPr lang="en-US" sz="1300" dirty="0"/>
          </a:p>
        </p:txBody>
      </p:sp>
      <p:sp>
        <p:nvSpPr>
          <p:cNvPr id="72" name="Text 53"/>
          <p:cNvSpPr txBox="1"/>
          <p:nvPr/>
        </p:nvSpPr>
        <p:spPr>
          <a:xfrm>
            <a:off x="9304934" y="5767121"/>
            <a:ext cx="2011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constelação</a:t>
            </a:r>
            <a:endParaRPr lang="en-US" sz="900" dirty="0"/>
          </a:p>
        </p:txBody>
      </p:sp>
      <p:sp>
        <p:nvSpPr>
          <p:cNvPr id="73" name="Shape 54"/>
          <p:cNvSpPr/>
          <p:nvPr/>
        </p:nvSpPr>
        <p:spPr>
          <a:xfrm>
            <a:off x="571500" y="6483096"/>
            <a:ext cx="11048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55"/>
          <p:cNvSpPr txBox="1"/>
          <p:nvPr/>
        </p:nvSpPr>
        <p:spPr>
          <a:xfrm>
            <a:off x="457200" y="6588252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Todos os serviços geram comissão de 15% para a plataforma MOV. Valores estimados de mercado base SP.</a:t>
            </a:r>
            <a:endParaRPr lang="en-US" sz="900" dirty="0"/>
          </a:p>
        </p:txBody>
      </p:sp>
      <p:sp>
        <p:nvSpPr>
          <p:cNvPr id="75" name="Shape 56"/>
          <p:cNvSpPr/>
          <p:nvPr/>
        </p:nvSpPr>
        <p:spPr>
          <a:xfrm>
            <a:off x="571500" y="1172261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57"/>
          <p:cNvSpPr txBox="1"/>
          <p:nvPr/>
        </p:nvSpPr>
        <p:spPr>
          <a:xfrm>
            <a:off x="571500" y="381305"/>
            <a:ext cx="7592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 3: Produtos de Autoconhecimento</a:t>
            </a:r>
            <a:endParaRPr lang="en-US" sz="2600" dirty="0"/>
          </a:p>
        </p:txBody>
      </p:sp>
      <p:sp>
        <p:nvSpPr>
          <p:cNvPr id="77" name="Text 58"/>
          <p:cNvSpPr txBox="1"/>
          <p:nvPr/>
        </p:nvSpPr>
        <p:spPr>
          <a:xfrm>
            <a:off x="571500" y="792785"/>
            <a:ext cx="7020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Expansão do portfólio para aprofundar conexões e gerar novas receitas</a:t>
            </a:r>
            <a:endParaRPr lang="en-US" sz="1200" dirty="0"/>
          </a:p>
        </p:txBody>
      </p:sp>
      <p:sp>
        <p:nvSpPr>
          <p:cNvPr id="78" name="Text 59"/>
          <p:cNvSpPr txBox="1"/>
          <p:nvPr/>
        </p:nvSpPr>
        <p:spPr>
          <a:xfrm>
            <a:off x="11068812" y="701345"/>
            <a:ext cx="6291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84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77541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Papel dos Mètres — Modelo Operacional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1774"/>
            <a:ext cx="7182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integramos especialistas ao ecossistema para gerar valor e receita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17606" y="840334"/>
            <a:ext cx="685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693469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Perfil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5" r="-5"/>
          <a:stretch/>
        </p:blipFill>
        <p:spPr>
          <a:xfrm>
            <a:off x="571500" y="2231136"/>
            <a:ext cx="2857500" cy="402153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24305" y="2526487"/>
            <a:ext cx="952805" cy="952805"/>
          </a:xfrm>
          <a:prstGeom prst="ellipse">
            <a:avLst/>
          </a:prstGeom>
          <a:solidFill>
            <a:srgbClr val="2A2A2A"/>
          </a:solidFill>
          <a:ln w="254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1833372" y="2811780"/>
            <a:ext cx="333756" cy="3813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" y="3669487"/>
            <a:ext cx="255574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Mètre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3349" y="3991356"/>
            <a:ext cx="25338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Profissional especializado que atua como autoridade e facilitador da experiência MOV.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4829861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4798771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Certificação Verificada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5118811"/>
            <a:ext cx="133502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0354" y="5088636"/>
            <a:ext cx="20125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Protocolo MOV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5408676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0354" y="5378501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Carismático</a:t>
            </a:r>
            <a:endParaRPr lang="en-US" sz="1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5698541"/>
            <a:ext cx="133502" cy="13350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0354" y="5667451"/>
            <a:ext cx="16093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Histórico Comprovado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3715207" y="1693469"/>
            <a:ext cx="4686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Função Tripla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3715207" y="2231136"/>
            <a:ext cx="4572000" cy="1067105"/>
          </a:xfrm>
          <a:prstGeom prst="roundRect">
            <a:avLst>
              <a:gd name="adj" fmla="val 1836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6"/>
          <p:cNvSpPr/>
          <p:nvPr/>
        </p:nvSpPr>
        <p:spPr>
          <a:xfrm>
            <a:off x="3715207" y="2231136"/>
            <a:ext cx="38405" cy="1067105"/>
          </a:xfrm>
          <a:prstGeom prst="roundRect">
            <a:avLst>
              <a:gd name="adj" fmla="val 510201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7"/>
          <p:cNvSpPr txBox="1"/>
          <p:nvPr/>
        </p:nvSpPr>
        <p:spPr>
          <a:xfrm>
            <a:off x="3943807" y="2421331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4419295" y="2421331"/>
            <a:ext cx="3791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Anfitrião do Evento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419295" y="2720340"/>
            <a:ext cx="37536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Apresenta o Speed Dating, quebra o gelo inicial e garante a segurança psicológica do grupo.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133" r="-133"/>
          <a:stretch/>
        </p:blipFill>
        <p:spPr>
          <a:xfrm>
            <a:off x="7925105" y="2421331"/>
            <a:ext cx="171907" cy="2286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3905402" y="3485693"/>
            <a:ext cx="19202" cy="19019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1"/>
          <p:cNvSpPr/>
          <p:nvPr/>
        </p:nvSpPr>
        <p:spPr>
          <a:xfrm>
            <a:off x="3715207" y="3866083"/>
            <a:ext cx="4572000" cy="1067105"/>
          </a:xfrm>
          <a:prstGeom prst="roundRect">
            <a:avLst>
              <a:gd name="adj" fmla="val 1836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2"/>
          <p:cNvSpPr/>
          <p:nvPr/>
        </p:nvSpPr>
        <p:spPr>
          <a:xfrm>
            <a:off x="3715207" y="3866083"/>
            <a:ext cx="38405" cy="1067105"/>
          </a:xfrm>
          <a:prstGeom prst="roundRect">
            <a:avLst>
              <a:gd name="adj" fmla="val 510201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3"/>
          <p:cNvSpPr txBox="1"/>
          <p:nvPr/>
        </p:nvSpPr>
        <p:spPr>
          <a:xfrm>
            <a:off x="3943807" y="4057193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4419295" y="4057193"/>
            <a:ext cx="3791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Educador (Workshop)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419295" y="4356202"/>
            <a:ext cx="37536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Conduz uma dinâmica curta (15-30min) de autoconhecimento ao final, demonstrando sua expertise.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 l="-133" r="-133"/>
          <a:stretch/>
        </p:blipFill>
        <p:spPr>
          <a:xfrm>
            <a:off x="7925105" y="4057193"/>
            <a:ext cx="171907" cy="2286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3905402" y="5120640"/>
            <a:ext cx="19202" cy="19019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27"/>
          <p:cNvSpPr/>
          <p:nvPr/>
        </p:nvSpPr>
        <p:spPr>
          <a:xfrm>
            <a:off x="3715207" y="5501945"/>
            <a:ext cx="4572000" cy="1067105"/>
          </a:xfrm>
          <a:prstGeom prst="roundRect">
            <a:avLst>
              <a:gd name="adj" fmla="val 18362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>
            <a:off x="3715207" y="5501945"/>
            <a:ext cx="38405" cy="1067105"/>
          </a:xfrm>
          <a:prstGeom prst="roundRect">
            <a:avLst>
              <a:gd name="adj" fmla="val 510201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9"/>
          <p:cNvSpPr txBox="1"/>
          <p:nvPr/>
        </p:nvSpPr>
        <p:spPr>
          <a:xfrm>
            <a:off x="3943807" y="5692140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40" name="Text 30"/>
          <p:cNvSpPr txBox="1"/>
          <p:nvPr/>
        </p:nvSpPr>
        <p:spPr>
          <a:xfrm>
            <a:off x="4419295" y="5692140"/>
            <a:ext cx="3791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Vendedor de Serviços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4419295" y="5992063"/>
            <a:ext cx="37536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BBBB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 o "pitch" final e oferece continuidade através de sessões privadas ou cursos na plataforma.</a:t>
            </a:r>
            <a:endParaRPr lang="en-US" sz="10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80" r="-80"/>
          <a:stretch/>
        </p:blipFill>
        <p:spPr>
          <a:xfrm>
            <a:off x="7810805" y="5692140"/>
            <a:ext cx="286207" cy="2286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2500" y="1693469"/>
            <a:ext cx="3162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Negócio &amp; Plataforma</a:t>
            </a:r>
            <a:endParaRPr lang="en-US" sz="13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8572500" y="2231136"/>
            <a:ext cx="3047695" cy="150144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725205" y="2478024"/>
            <a:ext cx="27432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4200" dirty="0"/>
          </a:p>
        </p:txBody>
      </p:sp>
      <p:sp>
        <p:nvSpPr>
          <p:cNvPr id="46" name="Text 34"/>
          <p:cNvSpPr txBox="1"/>
          <p:nvPr/>
        </p:nvSpPr>
        <p:spPr>
          <a:xfrm>
            <a:off x="8769096" y="3059582"/>
            <a:ext cx="26554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Comissão MOV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8769096" y="3312871"/>
            <a:ext cx="2655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Sobre todo serviço vendido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8572500" y="3922776"/>
            <a:ext cx="3047695" cy="2648102"/>
          </a:xfrm>
          <a:prstGeom prst="roundRect">
            <a:avLst>
              <a:gd name="adj" fmla="val 2981"/>
            </a:avLst>
          </a:prstGeom>
          <a:solidFill>
            <a:srgbClr val="1E1E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37"/>
          <p:cNvSpPr/>
          <p:nvPr/>
        </p:nvSpPr>
        <p:spPr>
          <a:xfrm>
            <a:off x="8762695" y="4684471"/>
            <a:ext cx="2667305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38"/>
          <p:cNvSpPr/>
          <p:nvPr/>
        </p:nvSpPr>
        <p:spPr>
          <a:xfrm>
            <a:off x="8762695" y="413674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8887054" y="4251046"/>
            <a:ext cx="133502" cy="152705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9286646" y="4112971"/>
            <a:ext cx="1953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Integrada</a:t>
            </a:r>
            <a:endParaRPr lang="en-US" sz="1100" dirty="0"/>
          </a:p>
        </p:txBody>
      </p:sp>
      <p:sp>
        <p:nvSpPr>
          <p:cNvPr id="53" name="Text 40"/>
          <p:cNvSpPr txBox="1"/>
          <p:nvPr/>
        </p:nvSpPr>
        <p:spPr>
          <a:xfrm>
            <a:off x="9286646" y="4358945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slots e disponibilidade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8762695" y="5408676"/>
            <a:ext cx="2667305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42"/>
          <p:cNvSpPr/>
          <p:nvPr/>
        </p:nvSpPr>
        <p:spPr>
          <a:xfrm>
            <a:off x="8762695" y="486095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8896198" y="4975250"/>
            <a:ext cx="114300" cy="152705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9286646" y="4837176"/>
            <a:ext cx="1752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de Pagamento</a:t>
            </a:r>
            <a:endParaRPr lang="en-US" sz="1100" dirty="0"/>
          </a:p>
        </p:txBody>
      </p:sp>
      <p:sp>
        <p:nvSpPr>
          <p:cNvPr id="58" name="Text 44"/>
          <p:cNvSpPr txBox="1"/>
          <p:nvPr/>
        </p:nvSpPr>
        <p:spPr>
          <a:xfrm>
            <a:off x="9286646" y="5082235"/>
            <a:ext cx="19952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Repasse automático e seguro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8762695" y="5584241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A2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8867851" y="5698541"/>
            <a:ext cx="171907" cy="152705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9286646" y="5560466"/>
            <a:ext cx="1864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EEE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Avaliação</a:t>
            </a:r>
            <a:endParaRPr lang="en-US" sz="1100" dirty="0"/>
          </a:p>
        </p:txBody>
      </p:sp>
      <p:sp>
        <p:nvSpPr>
          <p:cNvPr id="62" name="Text 47"/>
          <p:cNvSpPr txBox="1"/>
          <p:nvPr/>
        </p:nvSpPr>
        <p:spPr>
          <a:xfrm>
            <a:off x="9286646" y="5806440"/>
            <a:ext cx="2051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e reputação na rede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52805" y="4113886"/>
            <a:ext cx="10287000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952805" y="4113886"/>
            <a:ext cx="9391802" cy="384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952805" y="4113886"/>
            <a:ext cx="3098902" cy="384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405" b="-405"/>
          <a:stretch/>
        </p:blipFill>
        <p:spPr>
          <a:xfrm>
            <a:off x="4051706" y="4113886"/>
            <a:ext cx="3098902" cy="384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7150608" y="4113886"/>
            <a:ext cx="3193085" cy="38405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828800" y="5111496"/>
            <a:ext cx="8534095" cy="485546"/>
          </a:xfrm>
          <a:prstGeom prst="roundRect">
            <a:avLst>
              <a:gd name="adj" fmla="val 1883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3"/>
          <p:cNvSpPr/>
          <p:nvPr/>
        </p:nvSpPr>
        <p:spPr>
          <a:xfrm>
            <a:off x="2225650" y="5295290"/>
            <a:ext cx="114300" cy="114300"/>
          </a:xfrm>
          <a:prstGeom prst="ellipse">
            <a:avLst/>
          </a:prstGeom>
          <a:solidFill>
            <a:srgbClr val="FF3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4"/>
          <p:cNvSpPr txBox="1"/>
          <p:nvPr/>
        </p:nvSpPr>
        <p:spPr>
          <a:xfrm>
            <a:off x="2435047" y="5255057"/>
            <a:ext cx="17684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de Atração (Evento)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4296766" y="5295290"/>
            <a:ext cx="114300" cy="114300"/>
          </a:xfrm>
          <a:prstGeom prst="ellipse">
            <a:avLst/>
          </a:prstGeom>
          <a:solidFill>
            <a:srgbClr val="38B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6"/>
          <p:cNvSpPr txBox="1"/>
          <p:nvPr/>
        </p:nvSpPr>
        <p:spPr>
          <a:xfrm>
            <a:off x="4506163" y="5255057"/>
            <a:ext cx="22786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de Conversão (Plataforma)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796735" y="5295290"/>
            <a:ext cx="114300" cy="114300"/>
          </a:xfrm>
          <a:prstGeom prst="ellipse">
            <a:avLst/>
          </a:prstGeom>
          <a:solidFill>
            <a:srgbClr val="A53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8"/>
          <p:cNvSpPr txBox="1"/>
          <p:nvPr/>
        </p:nvSpPr>
        <p:spPr>
          <a:xfrm>
            <a:off x="7006133" y="5255057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de Retenção (Serviço)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8986723" y="5295290"/>
            <a:ext cx="114300" cy="1143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0"/>
          <p:cNvSpPr txBox="1"/>
          <p:nvPr/>
        </p:nvSpPr>
        <p:spPr>
          <a:xfrm>
            <a:off x="9196121" y="5255057"/>
            <a:ext cx="8860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Monetização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1429207" y="3702406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2"/>
          <p:cNvSpPr/>
          <p:nvPr/>
        </p:nvSpPr>
        <p:spPr>
          <a:xfrm>
            <a:off x="666598" y="3578962"/>
            <a:ext cx="1524305" cy="1152144"/>
          </a:xfrm>
          <a:prstGeom prst="roundRect">
            <a:avLst>
              <a:gd name="adj" fmla="val 1574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3"/>
          <p:cNvSpPr txBox="1"/>
          <p:nvPr/>
        </p:nvSpPr>
        <p:spPr>
          <a:xfrm>
            <a:off x="780898" y="3730752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Descoberta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90956" y="3984041"/>
            <a:ext cx="12765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 participa de um evento Speed Dating (Clássico ou Sensorial).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984602" y="3416198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6"/>
          <p:cNvSpPr/>
          <p:nvPr/>
        </p:nvSpPr>
        <p:spPr>
          <a:xfrm>
            <a:off x="2222906" y="1936699"/>
            <a:ext cx="1524305" cy="1009498"/>
          </a:xfrm>
          <a:prstGeom prst="roundRect">
            <a:avLst>
              <a:gd name="adj" fmla="val 20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7"/>
          <p:cNvSpPr txBox="1"/>
          <p:nvPr/>
        </p:nvSpPr>
        <p:spPr>
          <a:xfrm>
            <a:off x="2337206" y="2088490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2346350" y="2342693"/>
            <a:ext cx="1276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Mètre apresenta o evento e conduz mini-workshop ao final.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539996" y="3702406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0"/>
          <p:cNvSpPr/>
          <p:nvPr/>
        </p:nvSpPr>
        <p:spPr>
          <a:xfrm>
            <a:off x="3778301" y="3653028"/>
            <a:ext cx="1524305" cy="1009498"/>
          </a:xfrm>
          <a:prstGeom prst="roundRect">
            <a:avLst>
              <a:gd name="adj" fmla="val 20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1"/>
          <p:cNvSpPr txBox="1"/>
          <p:nvPr/>
        </p:nvSpPr>
        <p:spPr>
          <a:xfrm>
            <a:off x="3892601" y="3804818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Interesse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3901745" y="4059022"/>
            <a:ext cx="1276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 escaneia QR Code para ver perfil e ofertas do Mètre.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096305" y="3416198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5333695" y="1787652"/>
            <a:ext cx="1524305" cy="1152144"/>
          </a:xfrm>
          <a:prstGeom prst="roundRect">
            <a:avLst>
              <a:gd name="adj" fmla="val 15742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 txBox="1"/>
          <p:nvPr/>
        </p:nvSpPr>
        <p:spPr>
          <a:xfrm>
            <a:off x="5447995" y="1940357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Contratação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5458054" y="2193646"/>
            <a:ext cx="12765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Agendamento e pagamento via App MOV (Split automático).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7651699" y="3702406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28"/>
          <p:cNvSpPr/>
          <p:nvPr/>
        </p:nvSpPr>
        <p:spPr>
          <a:xfrm>
            <a:off x="6890004" y="3653028"/>
            <a:ext cx="1524305" cy="1009498"/>
          </a:xfrm>
          <a:prstGeom prst="roundRect">
            <a:avLst>
              <a:gd name="adj" fmla="val 20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29"/>
          <p:cNvSpPr txBox="1"/>
          <p:nvPr/>
        </p:nvSpPr>
        <p:spPr>
          <a:xfrm>
            <a:off x="7004304" y="3804818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013448" y="4059022"/>
            <a:ext cx="1276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Realização da sessão de terapia, tantra ou coaching.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207094" y="3416198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2"/>
          <p:cNvSpPr/>
          <p:nvPr/>
        </p:nvSpPr>
        <p:spPr>
          <a:xfrm>
            <a:off x="8445398" y="1936699"/>
            <a:ext cx="1524305" cy="1009498"/>
          </a:xfrm>
          <a:prstGeom prst="roundRect">
            <a:avLst>
              <a:gd name="adj" fmla="val 20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3"/>
          <p:cNvSpPr txBox="1"/>
          <p:nvPr/>
        </p:nvSpPr>
        <p:spPr>
          <a:xfrm>
            <a:off x="8559698" y="2088490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Relacionamento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8568842" y="2342693"/>
            <a:ext cx="1276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Avaliação (5 estrelas) e recomendação de novos serviços.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10763402" y="3702406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6"/>
          <p:cNvSpPr/>
          <p:nvPr/>
        </p:nvSpPr>
        <p:spPr>
          <a:xfrm>
            <a:off x="10000793" y="3653028"/>
            <a:ext cx="1524305" cy="1009498"/>
          </a:xfrm>
          <a:prstGeom prst="roundRect">
            <a:avLst>
              <a:gd name="adj" fmla="val 20509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37"/>
          <p:cNvSpPr txBox="1"/>
          <p:nvPr/>
        </p:nvSpPr>
        <p:spPr>
          <a:xfrm>
            <a:off x="10115093" y="3804818"/>
            <a:ext cx="12957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Receita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10125151" y="4059022"/>
            <a:ext cx="12765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 retém 15% de comissão e libera saldo ao profissional.</a:t>
            </a:r>
            <a:endParaRPr lang="en-US" sz="9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95451" y="2673706"/>
            <a:ext cx="666598" cy="666598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1300277" y="2893162"/>
            <a:ext cx="256946" cy="22860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552651" y="2654503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0"/>
          <p:cNvSpPr/>
          <p:nvPr/>
        </p:nvSpPr>
        <p:spPr>
          <a:xfrm>
            <a:off x="1514246" y="2654503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50846" y="3368650"/>
            <a:ext cx="666598" cy="666598"/>
          </a:xfrm>
          <a:prstGeom prst="rect">
            <a:avLst/>
          </a:prstGeom>
        </p:spPr>
      </p:pic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2841955" y="3588106"/>
            <a:ext cx="286207" cy="228600"/>
          </a:xfrm>
          <a:prstGeom prst="rect">
            <a:avLst/>
          </a:prstGeom>
        </p:spPr>
      </p:pic>
      <p:sp>
        <p:nvSpPr>
          <p:cNvPr id="52" name="Shape 41"/>
          <p:cNvSpPr/>
          <p:nvPr/>
        </p:nvSpPr>
        <p:spPr>
          <a:xfrm>
            <a:off x="3108046" y="3349447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2"/>
          <p:cNvSpPr/>
          <p:nvPr/>
        </p:nvSpPr>
        <p:spPr>
          <a:xfrm>
            <a:off x="3070555" y="334944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207154" y="2747772"/>
            <a:ext cx="666598" cy="666598"/>
          </a:xfrm>
          <a:prstGeom prst="rect">
            <a:avLst/>
          </a:prstGeom>
        </p:spPr>
      </p:pic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2"/>
          <a:srcRect l="-57" r="-57"/>
          <a:stretch/>
        </p:blipFill>
        <p:spPr>
          <a:xfrm>
            <a:off x="4440326" y="2967228"/>
            <a:ext cx="200254" cy="228600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4664354" y="2728570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44"/>
          <p:cNvSpPr/>
          <p:nvPr/>
        </p:nvSpPr>
        <p:spPr>
          <a:xfrm>
            <a:off x="4625950" y="272857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62549" y="3368650"/>
            <a:ext cx="666598" cy="666598"/>
          </a:xfrm>
          <a:prstGeom prst="rect">
            <a:avLst/>
          </a:prstGeom>
        </p:spPr>
      </p:pic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3"/>
          <a:srcRect l="-57" r="-57"/>
          <a:stretch/>
        </p:blipFill>
        <p:spPr>
          <a:xfrm>
            <a:off x="5995721" y="3588106"/>
            <a:ext cx="200254" cy="228600"/>
          </a:xfrm>
          <a:prstGeom prst="rect">
            <a:avLst/>
          </a:prstGeom>
        </p:spPr>
      </p:pic>
      <p:sp>
        <p:nvSpPr>
          <p:cNvPr id="60" name="Shape 45"/>
          <p:cNvSpPr/>
          <p:nvPr/>
        </p:nvSpPr>
        <p:spPr>
          <a:xfrm>
            <a:off x="6219749" y="3349447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46"/>
          <p:cNvSpPr/>
          <p:nvPr/>
        </p:nvSpPr>
        <p:spPr>
          <a:xfrm>
            <a:off x="6181344" y="334944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17943" y="2747772"/>
            <a:ext cx="666598" cy="666598"/>
          </a:xfrm>
          <a:prstGeom prst="rect">
            <a:avLst/>
          </a:prstGeom>
        </p:spPr>
      </p:pic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rcRect l="-80" r="-80"/>
          <a:stretch/>
        </p:blipFill>
        <p:spPr>
          <a:xfrm>
            <a:off x="7509053" y="2967228"/>
            <a:ext cx="286207" cy="22860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7775143" y="2728570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48"/>
          <p:cNvSpPr/>
          <p:nvPr/>
        </p:nvSpPr>
        <p:spPr>
          <a:xfrm>
            <a:off x="7737653" y="272857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874252" y="3368650"/>
            <a:ext cx="666598" cy="666598"/>
          </a:xfrm>
          <a:prstGeom prst="rect">
            <a:avLst/>
          </a:prstGeom>
        </p:spPr>
      </p:pic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9064447" y="3588106"/>
            <a:ext cx="286207" cy="228600"/>
          </a:xfrm>
          <a:prstGeom prst="rect">
            <a:avLst/>
          </a:prstGeom>
        </p:spPr>
      </p:pic>
      <p:sp>
        <p:nvSpPr>
          <p:cNvPr id="68" name="Shape 49"/>
          <p:cNvSpPr/>
          <p:nvPr/>
        </p:nvSpPr>
        <p:spPr>
          <a:xfrm>
            <a:off x="9331452" y="3349447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50"/>
          <p:cNvSpPr/>
          <p:nvPr/>
        </p:nvSpPr>
        <p:spPr>
          <a:xfrm>
            <a:off x="9293047" y="334944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429646" y="2747772"/>
            <a:ext cx="666598" cy="666598"/>
          </a:xfrm>
          <a:prstGeom prst="rect">
            <a:avLst/>
          </a:prstGeom>
        </p:spPr>
      </p:pic>
      <p:pic>
        <p:nvPicPr>
          <p:cNvPr id="71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649102" y="2967228"/>
            <a:ext cx="228600" cy="228600"/>
          </a:xfrm>
          <a:prstGeom prst="rect">
            <a:avLst/>
          </a:prstGeom>
        </p:spPr>
      </p:pic>
      <p:sp>
        <p:nvSpPr>
          <p:cNvPr id="72" name="Shape 51"/>
          <p:cNvSpPr/>
          <p:nvPr/>
        </p:nvSpPr>
        <p:spPr>
          <a:xfrm>
            <a:off x="10886846" y="2728570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52"/>
          <p:cNvSpPr/>
          <p:nvPr/>
        </p:nvSpPr>
        <p:spPr>
          <a:xfrm>
            <a:off x="10848442" y="272857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  <p:sp>
        <p:nvSpPr>
          <p:cNvPr id="74" name="Shape 53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54"/>
          <p:cNvSpPr txBox="1"/>
          <p:nvPr/>
        </p:nvSpPr>
        <p:spPr>
          <a:xfrm>
            <a:off x="571500" y="381305"/>
            <a:ext cx="68205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Jornada do Cliente no Ecossistema</a:t>
            </a:r>
            <a:endParaRPr lang="en-US" sz="2600" dirty="0"/>
          </a:p>
        </p:txBody>
      </p:sp>
      <p:sp>
        <p:nvSpPr>
          <p:cNvPr id="76" name="Text 55"/>
          <p:cNvSpPr txBox="1"/>
          <p:nvPr/>
        </p:nvSpPr>
        <p:spPr>
          <a:xfrm>
            <a:off x="571500" y="931774"/>
            <a:ext cx="682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integrado desde o evento presencial até a contratação de autoconhecimento</a:t>
            </a:r>
            <a:endParaRPr lang="en-US" sz="1200" dirty="0"/>
          </a:p>
        </p:txBody>
      </p:sp>
      <p:sp>
        <p:nvSpPr>
          <p:cNvPr id="77" name="Text 56"/>
          <p:cNvSpPr txBox="1"/>
          <p:nvPr/>
        </p:nvSpPr>
        <p:spPr>
          <a:xfrm>
            <a:off x="11017606" y="840334"/>
            <a:ext cx="685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57278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Receita Expandido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1774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da Fase 3 e impacto nas projeções financeiras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17606" y="840334"/>
            <a:ext cx="685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598371"/>
            <a:ext cx="38405" cy="256946"/>
          </a:xfrm>
          <a:prstGeom prst="rect">
            <a:avLst/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05002" y="1598371"/>
            <a:ext cx="38487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Fontes de Receita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" y="2087575"/>
            <a:ext cx="3866998" cy="752551"/>
          </a:xfrm>
          <a:prstGeom prst="roundRect">
            <a:avLst>
              <a:gd name="adj" fmla="val 3691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71754" y="2249424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403" r="-1403"/>
          <a:stretch/>
        </p:blipFill>
        <p:spPr>
          <a:xfrm>
            <a:off x="881482" y="2373782"/>
            <a:ext cx="209398" cy="18105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43254" y="2254910"/>
            <a:ext cx="3010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Ingressos de Eventos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43254" y="2490826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Bruta ~72%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1500" y="2983687"/>
            <a:ext cx="3866998" cy="752551"/>
          </a:xfrm>
          <a:prstGeom prst="roundRect">
            <a:avLst>
              <a:gd name="adj" fmla="val 3691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71754" y="3145536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856" b="-856"/>
          <a:stretch/>
        </p:blipFill>
        <p:spPr>
          <a:xfrm>
            <a:off x="918972" y="3268980"/>
            <a:ext cx="133502" cy="18105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43254" y="3150108"/>
            <a:ext cx="3010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Assinaturas App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343254" y="3386023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R$ 39,90/mês (Recorrente)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71500" y="3878885"/>
            <a:ext cx="3866998" cy="752551"/>
          </a:xfrm>
          <a:prstGeom prst="roundRect">
            <a:avLst>
              <a:gd name="adj" fmla="val 3691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771754" y="4040734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905256" y="4164178"/>
            <a:ext cx="161849" cy="1810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43254" y="4045306"/>
            <a:ext cx="3010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Comissão Restaurantes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343254" y="4281221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10% do consumo gerado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71500" y="4774082"/>
            <a:ext cx="3866998" cy="771754"/>
          </a:xfrm>
          <a:prstGeom prst="roundRect">
            <a:avLst>
              <a:gd name="adj" fmla="val 35106"/>
            </a:avLst>
          </a:prstGeom>
          <a:solidFill>
            <a:srgbClr val="FF385C">
              <a:alpha val="5000"/>
            </a:srgbClr>
          </a:solidFill>
          <a:ln w="25400">
            <a:solidFill>
              <a:srgbClr val="FF38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780898" y="4945075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FF3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881482" y="5069434"/>
            <a:ext cx="228600" cy="18105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52398" y="4950562"/>
            <a:ext cx="2991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Comissão Mètres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352398" y="5186477"/>
            <a:ext cx="2991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AD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 sobre serviços (Fase 3)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822192" y="5047488"/>
            <a:ext cx="457200" cy="228600"/>
          </a:xfrm>
          <a:prstGeom prst="roundRect">
            <a:avLst>
              <a:gd name="adj" fmla="val 133333"/>
            </a:avLst>
          </a:prstGeom>
          <a:solidFill>
            <a:srgbClr val="FF3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 txBox="1"/>
          <p:nvPr/>
        </p:nvSpPr>
        <p:spPr>
          <a:xfrm>
            <a:off x="3822192" y="5047488"/>
            <a:ext cx="5148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NOVO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571500" y="5688482"/>
            <a:ext cx="3866998" cy="752551"/>
          </a:xfrm>
          <a:prstGeom prst="roundRect">
            <a:avLst>
              <a:gd name="adj" fmla="val 36913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27"/>
          <p:cNvSpPr/>
          <p:nvPr/>
        </p:nvSpPr>
        <p:spPr>
          <a:xfrm>
            <a:off x="771754" y="5850331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2525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1403" r="-1403"/>
          <a:stretch/>
        </p:blipFill>
        <p:spPr>
          <a:xfrm>
            <a:off x="881482" y="5973775"/>
            <a:ext cx="209398" cy="1810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343254" y="5854903"/>
            <a:ext cx="3010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Parcerias e Patrocínios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343254" y="6090818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Awareness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19802" y="1598371"/>
            <a:ext cx="6801307" cy="4886554"/>
          </a:xfrm>
          <a:prstGeom prst="roundRect">
            <a:avLst>
              <a:gd name="adj" fmla="val 1167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1"/>
          <p:cNvSpPr txBox="1"/>
          <p:nvPr/>
        </p:nvSpPr>
        <p:spPr>
          <a:xfrm>
            <a:off x="5115154" y="1893722"/>
            <a:ext cx="4515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Projeção de Receita Adicional (Ano 1 - Fase 3)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10199218" y="1950415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Estimativa Anual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6" r="-6"/>
          <a:stretch/>
        </p:blipFill>
        <p:spPr>
          <a:xfrm>
            <a:off x="5115154" y="2312518"/>
            <a:ext cx="6210605" cy="2381098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5115154" y="4884725"/>
            <a:ext cx="1943100" cy="1218895"/>
          </a:xfrm>
          <a:prstGeom prst="roundRect">
            <a:avLst>
              <a:gd name="adj" fmla="val 11722"/>
            </a:avLst>
          </a:prstGeom>
          <a:solidFill>
            <a:srgbClr val="2525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4"/>
          <p:cNvSpPr/>
          <p:nvPr/>
        </p:nvSpPr>
        <p:spPr>
          <a:xfrm>
            <a:off x="5115154" y="4884725"/>
            <a:ext cx="1943100" cy="38405"/>
          </a:xfrm>
          <a:prstGeom prst="roundRect">
            <a:avLst>
              <a:gd name="adj" fmla="val 372022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5"/>
          <p:cNvSpPr txBox="1"/>
          <p:nvPr/>
        </p:nvSpPr>
        <p:spPr>
          <a:xfrm>
            <a:off x="5266944" y="5113325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75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Conservador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5266944" y="5372100"/>
            <a:ext cx="1638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R$ 15 Mil</a:t>
            </a:r>
            <a:endParaRPr lang="en-US" sz="1600" dirty="0"/>
          </a:p>
        </p:txBody>
      </p:sp>
      <p:sp>
        <p:nvSpPr>
          <p:cNvPr id="45" name="Text 37"/>
          <p:cNvSpPr txBox="1"/>
          <p:nvPr/>
        </p:nvSpPr>
        <p:spPr>
          <a:xfrm>
            <a:off x="5266944" y="5739689"/>
            <a:ext cx="1638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Mètres ativos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7248449" y="4884725"/>
            <a:ext cx="1943100" cy="1218895"/>
          </a:xfrm>
          <a:prstGeom prst="roundRect">
            <a:avLst>
              <a:gd name="adj" fmla="val 11722"/>
            </a:avLst>
          </a:prstGeom>
          <a:solidFill>
            <a:srgbClr val="38B6FF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39"/>
          <p:cNvSpPr/>
          <p:nvPr/>
        </p:nvSpPr>
        <p:spPr>
          <a:xfrm>
            <a:off x="7248449" y="4884725"/>
            <a:ext cx="1943100" cy="38405"/>
          </a:xfrm>
          <a:prstGeom prst="roundRect">
            <a:avLst>
              <a:gd name="adj" fmla="val 372022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0"/>
          <p:cNvSpPr txBox="1"/>
          <p:nvPr/>
        </p:nvSpPr>
        <p:spPr>
          <a:xfrm>
            <a:off x="7401154" y="5113325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75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Cenário Base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7401154" y="5372100"/>
            <a:ext cx="1638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R$ 30 Mil</a:t>
            </a:r>
            <a:endParaRPr lang="en-US" sz="1600" dirty="0"/>
          </a:p>
        </p:txBody>
      </p:sp>
      <p:sp>
        <p:nvSpPr>
          <p:cNvPr id="50" name="Text 42"/>
          <p:cNvSpPr txBox="1"/>
          <p:nvPr/>
        </p:nvSpPr>
        <p:spPr>
          <a:xfrm>
            <a:off x="7401154" y="5739689"/>
            <a:ext cx="1638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Mètres ativos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9381744" y="4884725"/>
            <a:ext cx="1943100" cy="1218895"/>
          </a:xfrm>
          <a:prstGeom prst="roundRect">
            <a:avLst>
              <a:gd name="adj" fmla="val 11722"/>
            </a:avLst>
          </a:prstGeom>
          <a:solidFill>
            <a:srgbClr val="FF385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4"/>
          <p:cNvSpPr/>
          <p:nvPr/>
        </p:nvSpPr>
        <p:spPr>
          <a:xfrm>
            <a:off x="9381744" y="4884725"/>
            <a:ext cx="1943100" cy="38405"/>
          </a:xfrm>
          <a:prstGeom prst="roundRect">
            <a:avLst>
              <a:gd name="adj" fmla="val 372022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5"/>
          <p:cNvSpPr txBox="1"/>
          <p:nvPr/>
        </p:nvSpPr>
        <p:spPr>
          <a:xfrm>
            <a:off x="9534449" y="5113325"/>
            <a:ext cx="1638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75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Otimista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9534449" y="5372100"/>
            <a:ext cx="1638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R$ 95 Mil</a:t>
            </a:r>
            <a:endParaRPr lang="en-US" sz="1600" dirty="0"/>
          </a:p>
        </p:txBody>
      </p:sp>
      <p:sp>
        <p:nvSpPr>
          <p:cNvPr id="55" name="Text 47"/>
          <p:cNvSpPr txBox="1"/>
          <p:nvPr/>
        </p:nvSpPr>
        <p:spPr>
          <a:xfrm>
            <a:off x="9534449" y="5739689"/>
            <a:ext cx="1638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Mètres ativos</a:t>
            </a:r>
            <a:endParaRPr lang="en-US" sz="900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rcRect l="-23" r="-23"/>
          <a:stretch/>
        </p:blipFill>
        <p:spPr>
          <a:xfrm>
            <a:off x="5115154" y="6291986"/>
            <a:ext cx="6210605" cy="861365"/>
          </a:xfrm>
          <a:prstGeom prst="rect">
            <a:avLst/>
          </a:prstGeom>
        </p:spPr>
      </p:pic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43754" y="6609283"/>
            <a:ext cx="228600" cy="2286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5715000" y="6291986"/>
            <a:ext cx="5496458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DE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Elevada:</a:t>
            </a:r>
            <a:r>
              <a:rPr lang="en-US" sz="1000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receita da Fase 3 possui custo operacional próximo de zero (marketplace), aumentando a lucratividade global da empresa sem exigir novos investimentos em infraestrutura. 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047902" y="1931213"/>
            <a:ext cx="1009680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5600700"/>
            <a:ext cx="11048695" cy="875995"/>
          </a:xfrm>
          <a:prstGeom prst="roundRect">
            <a:avLst>
              <a:gd name="adj" fmla="val 36308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076602" y="5810098"/>
            <a:ext cx="9144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961949" y="5810098"/>
            <a:ext cx="79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Metas 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Sucesso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40126" y="58009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385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2949854" y="5924398"/>
            <a:ext cx="256946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59175" y="5821985"/>
            <a:ext cx="1314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8-12%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59175" y="6084418"/>
            <a:ext cx="1314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Taxa de Conversão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264201" y="58009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38B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87645" y="592439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83250" y="5821985"/>
            <a:ext cx="10863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8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75+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883250" y="6084418"/>
            <a:ext cx="11365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NPS Experiência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7464247" y="58009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A538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7616038" y="5924398"/>
            <a:ext cx="171907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83296" y="5821985"/>
            <a:ext cx="9418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3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R$ 350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083296" y="6084418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 Médio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9510674" y="58009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4ADE8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9606686" y="5924398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129723" y="5821985"/>
            <a:ext cx="11814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AD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5%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10129723" y="6084418"/>
            <a:ext cx="1181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Churn de Mètres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71500" y="2312518"/>
            <a:ext cx="2542946" cy="2229307"/>
          </a:xfrm>
          <a:prstGeom prst="roundRect">
            <a:avLst>
              <a:gd name="adj" fmla="val 420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571500" y="2312518"/>
            <a:ext cx="2542946" cy="38405"/>
          </a:xfrm>
          <a:prstGeom prst="roundRect">
            <a:avLst>
              <a:gd name="adj" fmla="val 244199"/>
            </a:avLst>
          </a:prstGeom>
          <a:solidFill>
            <a:srgbClr val="FF385C"/>
          </a:solidFill>
          <a:ln w="12700">
            <a:solidFill>
              <a:srgbClr val="FF3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9"/>
          <p:cNvSpPr txBox="1"/>
          <p:nvPr/>
        </p:nvSpPr>
        <p:spPr>
          <a:xfrm>
            <a:off x="718718" y="2541118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 0–1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24205" y="2760574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Recrutamento &amp; Curadoria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61695" y="3302813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t="-4819" b="-4819"/>
          <a:stretch/>
        </p:blipFill>
        <p:spPr>
          <a:xfrm>
            <a:off x="800100" y="3332074"/>
            <a:ext cx="75895" cy="950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09498" y="3284525"/>
            <a:ext cx="19613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Edital de seleção de Mètres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61695" y="3569818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rcRect t="-4819" b="-4819"/>
          <a:stretch/>
        </p:blipFill>
        <p:spPr>
          <a:xfrm>
            <a:off x="800100" y="3598164"/>
            <a:ext cx="75895" cy="9509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09498" y="3550615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de certificações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761695" y="3836822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t="-4819" b="-4819"/>
          <a:stretch/>
        </p:blipFill>
        <p:spPr>
          <a:xfrm>
            <a:off x="800100" y="3865169"/>
            <a:ext cx="75895" cy="9509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09498" y="3817620"/>
            <a:ext cx="1564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Contratos de parceria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761695" y="4102913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rcRect t="-4819" b="-4819"/>
          <a:stretch/>
        </p:blipFill>
        <p:spPr>
          <a:xfrm>
            <a:off x="800100" y="4132174"/>
            <a:ext cx="75895" cy="9509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09498" y="4084625"/>
            <a:ext cx="20519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do mix de serviços</a:t>
            </a:r>
            <a:endParaRPr lang="en-US" sz="10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03858" y="1693469"/>
            <a:ext cx="476402" cy="47640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575511" y="1693469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3407054" y="2312518"/>
            <a:ext cx="2542946" cy="2229307"/>
          </a:xfrm>
          <a:prstGeom prst="roundRect">
            <a:avLst>
              <a:gd name="adj" fmla="val 420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31"/>
          <p:cNvSpPr/>
          <p:nvPr/>
        </p:nvSpPr>
        <p:spPr>
          <a:xfrm>
            <a:off x="3407054" y="2312518"/>
            <a:ext cx="2542946" cy="38405"/>
          </a:xfrm>
          <a:prstGeom prst="roundRect">
            <a:avLst>
              <a:gd name="adj" fmla="val 244199"/>
            </a:avLst>
          </a:prstGeom>
          <a:solidFill>
            <a:srgbClr val="38B6FF"/>
          </a:solidFill>
          <a:ln w="12700">
            <a:solidFill>
              <a:srgbClr val="38B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2"/>
          <p:cNvSpPr txBox="1"/>
          <p:nvPr/>
        </p:nvSpPr>
        <p:spPr>
          <a:xfrm>
            <a:off x="3554273" y="2541118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 1–2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3559759" y="2760574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&amp; Tech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3598164" y="3302813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3635654" y="3332074"/>
            <a:ext cx="75895" cy="95098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3845966" y="3284525"/>
            <a:ext cx="20125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Protocolo MOV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3598164" y="3569818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3635654" y="3598164"/>
            <a:ext cx="75895" cy="9509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3845966" y="3550615"/>
            <a:ext cx="17684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perfis no App</a:t>
            </a:r>
            <a:endParaRPr lang="en-US" sz="1000" dirty="0"/>
          </a:p>
        </p:txBody>
      </p:sp>
      <p:sp>
        <p:nvSpPr>
          <p:cNvPr id="52" name="Shape 38"/>
          <p:cNvSpPr/>
          <p:nvPr/>
        </p:nvSpPr>
        <p:spPr>
          <a:xfrm>
            <a:off x="3598164" y="3836822"/>
            <a:ext cx="152705" cy="152705"/>
          </a:xfrm>
          <a:prstGeom prst="roundRect">
            <a:avLst>
              <a:gd name="adj" fmla="val 22455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0"/>
          <a:srcRect t="-4819" b="-4819"/>
          <a:stretch/>
        </p:blipFill>
        <p:spPr>
          <a:xfrm>
            <a:off x="3635654" y="3865169"/>
            <a:ext cx="75895" cy="95098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3845966" y="3817620"/>
            <a:ext cx="1972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Configuração split de pagto</a:t>
            </a:r>
            <a:endParaRPr lang="en-US" sz="1000" dirty="0"/>
          </a:p>
        </p:txBody>
      </p:sp>
      <p:sp>
        <p:nvSpPr>
          <p:cNvPr id="55" name="Shape 40"/>
          <p:cNvSpPr/>
          <p:nvPr/>
        </p:nvSpPr>
        <p:spPr>
          <a:xfrm>
            <a:off x="3598164" y="4102913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1"/>
          <p:cNvSpPr txBox="1"/>
          <p:nvPr/>
        </p:nvSpPr>
        <p:spPr>
          <a:xfrm>
            <a:off x="3845966" y="4084625"/>
            <a:ext cx="14282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Playbook de vendas</a:t>
            </a:r>
            <a:endParaRPr lang="en-US" sz="10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39412" y="1693469"/>
            <a:ext cx="476402" cy="47640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4411066" y="1693469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59" name="Shape 43"/>
          <p:cNvSpPr/>
          <p:nvPr/>
        </p:nvSpPr>
        <p:spPr>
          <a:xfrm>
            <a:off x="6243523" y="2312518"/>
            <a:ext cx="2542946" cy="2229307"/>
          </a:xfrm>
          <a:prstGeom prst="roundRect">
            <a:avLst>
              <a:gd name="adj" fmla="val 420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44"/>
          <p:cNvSpPr/>
          <p:nvPr/>
        </p:nvSpPr>
        <p:spPr>
          <a:xfrm>
            <a:off x="6243523" y="2312518"/>
            <a:ext cx="2542946" cy="38405"/>
          </a:xfrm>
          <a:prstGeom prst="roundRect">
            <a:avLst>
              <a:gd name="adj" fmla="val 244199"/>
            </a:avLst>
          </a:prstGeom>
          <a:solidFill>
            <a:srgbClr val="A538FF"/>
          </a:solidFill>
          <a:ln w="12700">
            <a:solidFill>
              <a:srgbClr val="A53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45"/>
          <p:cNvSpPr txBox="1"/>
          <p:nvPr/>
        </p:nvSpPr>
        <p:spPr>
          <a:xfrm>
            <a:off x="6390742" y="2541118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 2–3</a:t>
            </a:r>
            <a:endParaRPr lang="en-US" sz="900" dirty="0"/>
          </a:p>
        </p:txBody>
      </p:sp>
      <p:sp>
        <p:nvSpPr>
          <p:cNvPr id="62" name="Text 46"/>
          <p:cNvSpPr txBox="1"/>
          <p:nvPr/>
        </p:nvSpPr>
        <p:spPr>
          <a:xfrm>
            <a:off x="6395314" y="2760574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 Controlado</a:t>
            </a:r>
            <a:endParaRPr lang="en-US" sz="1200" dirty="0"/>
          </a:p>
        </p:txBody>
      </p:sp>
      <p:sp>
        <p:nvSpPr>
          <p:cNvPr id="63" name="Shape 47"/>
          <p:cNvSpPr/>
          <p:nvPr/>
        </p:nvSpPr>
        <p:spPr>
          <a:xfrm>
            <a:off x="6433718" y="3302813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48"/>
          <p:cNvSpPr txBox="1"/>
          <p:nvPr/>
        </p:nvSpPr>
        <p:spPr>
          <a:xfrm>
            <a:off x="6681521" y="3284525"/>
            <a:ext cx="12362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6-8 Eventos teste</a:t>
            </a:r>
            <a:endParaRPr lang="en-US" sz="1000" dirty="0"/>
          </a:p>
        </p:txBody>
      </p:sp>
      <p:sp>
        <p:nvSpPr>
          <p:cNvPr id="65" name="Shape 49"/>
          <p:cNvSpPr/>
          <p:nvPr/>
        </p:nvSpPr>
        <p:spPr>
          <a:xfrm>
            <a:off x="6433718" y="3569818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50"/>
          <p:cNvSpPr txBox="1"/>
          <p:nvPr/>
        </p:nvSpPr>
        <p:spPr>
          <a:xfrm>
            <a:off x="6681521" y="3550615"/>
            <a:ext cx="16440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Validação em 3 bairros</a:t>
            </a:r>
            <a:endParaRPr lang="en-US" sz="1000" dirty="0"/>
          </a:p>
        </p:txBody>
      </p:sp>
      <p:sp>
        <p:nvSpPr>
          <p:cNvPr id="67" name="Shape 51"/>
          <p:cNvSpPr/>
          <p:nvPr/>
        </p:nvSpPr>
        <p:spPr>
          <a:xfrm>
            <a:off x="6433718" y="3836822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52"/>
          <p:cNvSpPr txBox="1"/>
          <p:nvPr/>
        </p:nvSpPr>
        <p:spPr>
          <a:xfrm>
            <a:off x="6681521" y="3817620"/>
            <a:ext cx="18370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Coleta de NPS e feedback</a:t>
            </a:r>
            <a:endParaRPr lang="en-US" sz="1000" dirty="0"/>
          </a:p>
        </p:txBody>
      </p:sp>
      <p:sp>
        <p:nvSpPr>
          <p:cNvPr id="69" name="Shape 53"/>
          <p:cNvSpPr/>
          <p:nvPr/>
        </p:nvSpPr>
        <p:spPr>
          <a:xfrm>
            <a:off x="6433718" y="4102913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54"/>
          <p:cNvSpPr txBox="1"/>
          <p:nvPr/>
        </p:nvSpPr>
        <p:spPr>
          <a:xfrm>
            <a:off x="6681521" y="4084625"/>
            <a:ext cx="15764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 de precificação</a:t>
            </a:r>
            <a:endParaRPr lang="en-US" sz="10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275881" y="1693469"/>
            <a:ext cx="476402" cy="476402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7247534" y="1693469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538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73" name="Shape 56"/>
          <p:cNvSpPr/>
          <p:nvPr/>
        </p:nvSpPr>
        <p:spPr>
          <a:xfrm>
            <a:off x="9079078" y="2312518"/>
            <a:ext cx="2542946" cy="2229307"/>
          </a:xfrm>
          <a:prstGeom prst="roundRect">
            <a:avLst>
              <a:gd name="adj" fmla="val 420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57"/>
          <p:cNvSpPr/>
          <p:nvPr/>
        </p:nvSpPr>
        <p:spPr>
          <a:xfrm>
            <a:off x="9079078" y="2312518"/>
            <a:ext cx="2542946" cy="38405"/>
          </a:xfrm>
          <a:prstGeom prst="roundRect">
            <a:avLst>
              <a:gd name="adj" fmla="val 244199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58"/>
          <p:cNvSpPr txBox="1"/>
          <p:nvPr/>
        </p:nvSpPr>
        <p:spPr>
          <a:xfrm>
            <a:off x="9226296" y="2541118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 3–6</a:t>
            </a:r>
            <a:endParaRPr lang="en-US" sz="900" dirty="0"/>
          </a:p>
        </p:txBody>
      </p:sp>
      <p:sp>
        <p:nvSpPr>
          <p:cNvPr id="76" name="Text 59"/>
          <p:cNvSpPr txBox="1"/>
          <p:nvPr/>
        </p:nvSpPr>
        <p:spPr>
          <a:xfrm>
            <a:off x="9231782" y="2760574"/>
            <a:ext cx="2238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 &amp; Growth</a:t>
            </a:r>
            <a:endParaRPr lang="en-US" sz="1200" dirty="0"/>
          </a:p>
        </p:txBody>
      </p:sp>
      <p:sp>
        <p:nvSpPr>
          <p:cNvPr id="77" name="Shape 60"/>
          <p:cNvSpPr/>
          <p:nvPr/>
        </p:nvSpPr>
        <p:spPr>
          <a:xfrm>
            <a:off x="9270187" y="3302813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61"/>
          <p:cNvSpPr txBox="1"/>
          <p:nvPr/>
        </p:nvSpPr>
        <p:spPr>
          <a:xfrm>
            <a:off x="9517075" y="3284525"/>
            <a:ext cx="18251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Expansão para 25 Mètres</a:t>
            </a:r>
            <a:endParaRPr lang="en-US" sz="1000" dirty="0"/>
          </a:p>
        </p:txBody>
      </p:sp>
      <p:sp>
        <p:nvSpPr>
          <p:cNvPr id="79" name="Shape 62"/>
          <p:cNvSpPr/>
          <p:nvPr/>
        </p:nvSpPr>
        <p:spPr>
          <a:xfrm>
            <a:off x="9270187" y="3569818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63"/>
          <p:cNvSpPr txBox="1"/>
          <p:nvPr/>
        </p:nvSpPr>
        <p:spPr>
          <a:xfrm>
            <a:off x="9517075" y="3550615"/>
            <a:ext cx="18708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Bundles (Evento + Sessão)</a:t>
            </a:r>
            <a:endParaRPr lang="en-US" sz="1000" dirty="0"/>
          </a:p>
        </p:txBody>
      </p:sp>
      <p:sp>
        <p:nvSpPr>
          <p:cNvPr id="81" name="Shape 64"/>
          <p:cNvSpPr/>
          <p:nvPr/>
        </p:nvSpPr>
        <p:spPr>
          <a:xfrm>
            <a:off x="9270187" y="3836822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65"/>
          <p:cNvSpPr txBox="1"/>
          <p:nvPr/>
        </p:nvSpPr>
        <p:spPr>
          <a:xfrm>
            <a:off x="9517075" y="3817620"/>
            <a:ext cx="16779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de conteúdo</a:t>
            </a:r>
            <a:endParaRPr lang="en-US" sz="1000" dirty="0"/>
          </a:p>
        </p:txBody>
      </p:sp>
      <p:sp>
        <p:nvSpPr>
          <p:cNvPr id="83" name="Shape 66"/>
          <p:cNvSpPr/>
          <p:nvPr/>
        </p:nvSpPr>
        <p:spPr>
          <a:xfrm>
            <a:off x="9270187" y="4102913"/>
            <a:ext cx="152705" cy="152705"/>
          </a:xfrm>
          <a:prstGeom prst="roundRect">
            <a:avLst>
              <a:gd name="adj" fmla="val 224551"/>
            </a:avLst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 67"/>
          <p:cNvSpPr txBox="1"/>
          <p:nvPr/>
        </p:nvSpPr>
        <p:spPr>
          <a:xfrm>
            <a:off x="9517075" y="4084625"/>
            <a:ext cx="19156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Lançamento oficial feature</a:t>
            </a:r>
            <a:endParaRPr lang="en-US" sz="1000" dirty="0"/>
          </a:p>
        </p:txBody>
      </p:sp>
      <p:pic>
        <p:nvPicPr>
          <p:cNvPr id="85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111435" y="1693469"/>
            <a:ext cx="476402" cy="476402"/>
          </a:xfrm>
          <a:prstGeom prst="rect">
            <a:avLst/>
          </a:prstGeom>
        </p:spPr>
      </p:pic>
      <p:sp>
        <p:nvSpPr>
          <p:cNvPr id="86" name="Text 68"/>
          <p:cNvSpPr/>
          <p:nvPr/>
        </p:nvSpPr>
        <p:spPr>
          <a:xfrm>
            <a:off x="10083089" y="1693469"/>
            <a:ext cx="5340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87" name="Shape 69"/>
          <p:cNvSpPr/>
          <p:nvPr/>
        </p:nvSpPr>
        <p:spPr>
          <a:xfrm>
            <a:off x="571500" y="1305763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70"/>
          <p:cNvSpPr txBox="1"/>
          <p:nvPr/>
        </p:nvSpPr>
        <p:spPr>
          <a:xfrm>
            <a:off x="571500" y="381305"/>
            <a:ext cx="77824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Passos: Implementação Fase 3</a:t>
            </a:r>
            <a:endParaRPr lang="en-US" sz="2600" dirty="0"/>
          </a:p>
        </p:txBody>
      </p:sp>
      <p:sp>
        <p:nvSpPr>
          <p:cNvPr id="89" name="Text 71"/>
          <p:cNvSpPr txBox="1"/>
          <p:nvPr/>
        </p:nvSpPr>
        <p:spPr>
          <a:xfrm>
            <a:off x="571500" y="931774"/>
            <a:ext cx="7210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Cronograma estratégico de 6 meses para integração do autoconhecimento</a:t>
            </a:r>
            <a:endParaRPr lang="en-US" sz="1200" dirty="0"/>
          </a:p>
        </p:txBody>
      </p:sp>
      <p:sp>
        <p:nvSpPr>
          <p:cNvPr id="90" name="Text 72"/>
          <p:cNvSpPr txBox="1"/>
          <p:nvPr/>
        </p:nvSpPr>
        <p:spPr>
          <a:xfrm>
            <a:off x="11017606" y="840334"/>
            <a:ext cx="6858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38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1520</Words>
  <Application>Microsoft Office PowerPoint</Application>
  <PresentationFormat>Widescreen</PresentationFormat>
  <Paragraphs>331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Wesley Moreira</cp:lastModifiedBy>
  <cp:revision>1</cp:revision>
  <dcterms:created xsi:type="dcterms:W3CDTF">2026-03-13T23:55:19Z</dcterms:created>
  <dcterms:modified xsi:type="dcterms:W3CDTF">2026-03-20T23:12:53Z</dcterms:modified>
</cp:coreProperties>
</file>